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7.jpg" ContentType="image/jpg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>
        <p:scale>
          <a:sx n="80" d="100"/>
          <a:sy n="80" d="100"/>
        </p:scale>
        <p:origin x="58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FBE1E-57AE-45AF-AD7C-974990213E3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BB3DD-BD11-45E8-AFC3-8C6F2645D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94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BB3DD-BD11-45E8-AFC3-8C6F2645DF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91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533E-BAA2-A084-4BC6-A0B8B28D3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382774"/>
            <a:ext cx="7315200" cy="2387600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8C5D0-1516-42E7-03D9-5AB400D47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3259746"/>
            <a:ext cx="73152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D2FD4-49E5-321F-8E17-A3156CC46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B55216D2-FA51-41AD-99B9-8D6BA79E2D0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FBD80-0B26-ECFF-33C3-907F19855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99941-312A-27AB-5C55-7A6FB1D1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34E6-0BA9-4848-A588-C3FB0CC8F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3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bg>
      <p:bgPr>
        <a:blipFill dpi="0" rotWithShape="1">
          <a:blip r:embed="rId2">
            <a:lum/>
          </a:blip>
          <a:srcRect/>
          <a:stretch>
            <a:fillRect l="-5000" t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5030-E965-90C3-D934-67909D1F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18255"/>
            <a:ext cx="77724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F8FAB-550F-F1ED-D21F-86DC702E8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400" y="1523206"/>
            <a:ext cx="7772400" cy="46537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018E3-F36F-020F-2D09-B464D846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B55216D2-FA51-41AD-99B9-8D6BA79E2D0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686FF-5BCE-BBE2-1AD5-EA89BB57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BBE33-CD13-4E89-54F4-3C5B1552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34E6-0BA9-4848-A588-C3FB0CC8F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bg>
      <p:bgPr>
        <a:blipFill dpi="0" rotWithShape="1">
          <a:blip r:embed="rId2">
            <a:lum/>
          </a:blip>
          <a:srcRect/>
          <a:stretch>
            <a:fillRect t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5030-E965-90C3-D934-67909D1F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77724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F8FAB-550F-F1ED-D21F-86DC702E8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950"/>
            <a:ext cx="7772400" cy="4672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018E3-F36F-020F-2D09-B464D846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16D2-FA51-41AD-99B9-8D6BA79E2D0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686FF-5BCE-BBE2-1AD5-EA89BB57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BBE33-CD13-4E89-54F4-3C5B1552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94034E6-0BA9-4848-A588-C3FB0CC8F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4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13A4F-7B31-22C4-194B-BC0AF400D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0"/>
            <a:ext cx="73088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C7ABF-5FCD-8E3A-33CC-221AC725A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600" y="2879725"/>
            <a:ext cx="730885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F6396-4E82-590E-F519-2A68DFF8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B55216D2-FA51-41AD-99B9-8D6BA79E2D0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9FF9D-0ADF-3449-6A3F-5829CD2AE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A94CD-81CE-FEF5-ACE2-FC638809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94034E6-0BA9-4848-A588-C3FB0CC8F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9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13A4F-7B31-22C4-194B-BC0AF400D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5714"/>
            <a:ext cx="73152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C7ABF-5FCD-8E3A-33CC-221AC725A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325439"/>
            <a:ext cx="73152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F6396-4E82-590E-F519-2A68DFF8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16D2-FA51-41AD-99B9-8D6BA79E2D0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9FF9D-0ADF-3449-6A3F-5829CD2AE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A94CD-81CE-FEF5-ACE2-FC638809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94034E6-0BA9-4848-A588-C3FB0CC8F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92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13A4F-7B31-22C4-194B-BC0AF400D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-200819"/>
            <a:ext cx="431202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C7ABF-5FCD-8E3A-33CC-221AC725A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1400" y="2907506"/>
            <a:ext cx="4312024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F6396-4E82-590E-F519-2A68DFF8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16D2-FA51-41AD-99B9-8D6BA79E2D0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9FF9D-0ADF-3449-6A3F-5829CD2AE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A94CD-81CE-FEF5-ACE2-FC638809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94034E6-0BA9-4848-A588-C3FB0CC8F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7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9605-E170-3534-3EC1-6EC7A6374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1826E-3A04-2FE2-E632-0F76FB54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16D2-FA51-41AD-99B9-8D6BA79E2D0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77B26C-CA4A-751A-B0FF-12C9CEBEC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4E350-6A78-A9C4-9175-A73CCE2C4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034E6-0BA9-4848-A588-C3FB0CC8F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13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 Palette &amp;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9605-E170-3534-3EC1-6EC7A637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8965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4" name="Text 2">
            <a:extLst>
              <a:ext uri="{FF2B5EF4-FFF2-40B4-BE49-F238E27FC236}">
                <a16:creationId xmlns:a16="http://schemas.microsoft.com/office/drawing/2014/main" id="{B64AD2E2-18E2-1A32-2CE5-D4FB25FFA473}"/>
              </a:ext>
            </a:extLst>
          </p:cNvPr>
          <p:cNvSpPr/>
          <p:nvPr/>
        </p:nvSpPr>
        <p:spPr>
          <a:xfrm>
            <a:off x="566928" y="1644352"/>
            <a:ext cx="3017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+ TEXT COLORS</a:t>
            </a:r>
            <a:endParaRPr lang="en-US" sz="1600" dirty="0"/>
          </a:p>
        </p:txBody>
      </p:sp>
      <p:sp>
        <p:nvSpPr>
          <p:cNvPr id="216" name="Text 3">
            <a:extLst>
              <a:ext uri="{FF2B5EF4-FFF2-40B4-BE49-F238E27FC236}">
                <a16:creationId xmlns:a16="http://schemas.microsoft.com/office/drawing/2014/main" id="{8A3D51EC-21F8-6C30-9461-3C9031E825CA}"/>
              </a:ext>
            </a:extLst>
          </p:cNvPr>
          <p:cNvSpPr/>
          <p:nvPr/>
        </p:nvSpPr>
        <p:spPr>
          <a:xfrm>
            <a:off x="566927" y="2162486"/>
            <a:ext cx="1542090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6510">
            <a:solidFill>
              <a:schemeClr val="bg1">
                <a:lumMod val="10000"/>
                <a:alpha val="2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8" name="Text 4">
            <a:extLst>
              <a:ext uri="{FF2B5EF4-FFF2-40B4-BE49-F238E27FC236}">
                <a16:creationId xmlns:a16="http://schemas.microsoft.com/office/drawing/2014/main" id="{E18123DD-4173-0D66-F90B-E93C0CBF3EEB}"/>
              </a:ext>
            </a:extLst>
          </p:cNvPr>
          <p:cNvSpPr/>
          <p:nvPr/>
        </p:nvSpPr>
        <p:spPr>
          <a:xfrm>
            <a:off x="2239334" y="2162486"/>
            <a:ext cx="1542090" cy="96012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 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0" name="Text 5">
            <a:extLst>
              <a:ext uri="{FF2B5EF4-FFF2-40B4-BE49-F238E27FC236}">
                <a16:creationId xmlns:a16="http://schemas.microsoft.com/office/drawing/2014/main" id="{4683E4E8-F310-326A-8ABF-D193B69C244C}"/>
              </a:ext>
            </a:extLst>
          </p:cNvPr>
          <p:cNvSpPr/>
          <p:nvPr/>
        </p:nvSpPr>
        <p:spPr>
          <a:xfrm>
            <a:off x="566927" y="3268909"/>
            <a:ext cx="1542090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6510">
            <a:solidFill>
              <a:schemeClr val="bg2">
                <a:lumMod val="50000"/>
                <a:alpha val="2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2" name="Text 6">
            <a:extLst>
              <a:ext uri="{FF2B5EF4-FFF2-40B4-BE49-F238E27FC236}">
                <a16:creationId xmlns:a16="http://schemas.microsoft.com/office/drawing/2014/main" id="{8D3BE305-65BA-4BEE-8AFD-2BD2120CAAA6}"/>
              </a:ext>
            </a:extLst>
          </p:cNvPr>
          <p:cNvSpPr/>
          <p:nvPr/>
        </p:nvSpPr>
        <p:spPr>
          <a:xfrm>
            <a:off x="2239334" y="3268909"/>
            <a:ext cx="1542090" cy="96012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 2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24" name="Text 7">
            <a:extLst>
              <a:ext uri="{FF2B5EF4-FFF2-40B4-BE49-F238E27FC236}">
                <a16:creationId xmlns:a16="http://schemas.microsoft.com/office/drawing/2014/main" id="{40DADFED-FCE4-9B35-A7A8-3E8936AF1FA1}"/>
              </a:ext>
            </a:extLst>
          </p:cNvPr>
          <p:cNvSpPr/>
          <p:nvPr/>
        </p:nvSpPr>
        <p:spPr>
          <a:xfrm>
            <a:off x="4415789" y="1644352"/>
            <a:ext cx="4983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ACCENT COLORS</a:t>
            </a:r>
            <a:endParaRPr lang="en-US" sz="1600" dirty="0"/>
          </a:p>
        </p:txBody>
      </p:sp>
      <p:sp>
        <p:nvSpPr>
          <p:cNvPr id="226" name="Text 8">
            <a:extLst>
              <a:ext uri="{FF2B5EF4-FFF2-40B4-BE49-F238E27FC236}">
                <a16:creationId xmlns:a16="http://schemas.microsoft.com/office/drawing/2014/main" id="{359CD1AA-4853-47B2-21D7-880CBB3BA9BF}"/>
              </a:ext>
            </a:extLst>
          </p:cNvPr>
          <p:cNvSpPr/>
          <p:nvPr/>
        </p:nvSpPr>
        <p:spPr>
          <a:xfrm>
            <a:off x="4415789" y="2162486"/>
            <a:ext cx="1063438" cy="2066544"/>
          </a:xfrm>
          <a:prstGeom prst="roundRect">
            <a:avLst>
              <a:gd name="adj" fmla="val 7792"/>
            </a:avLst>
          </a:prstGeom>
          <a:solidFill>
            <a:schemeClr val="accent1"/>
          </a:solidFill>
          <a:ln w="12700">
            <a:noFill/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Accent 1</a:t>
            </a:r>
            <a:endParaRPr lang="en-US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28" name="Text 9">
            <a:extLst>
              <a:ext uri="{FF2B5EF4-FFF2-40B4-BE49-F238E27FC236}">
                <a16:creationId xmlns:a16="http://schemas.microsoft.com/office/drawing/2014/main" id="{EB3D11B5-D7BF-EA69-E66E-8D8468BB4929}"/>
              </a:ext>
            </a:extLst>
          </p:cNvPr>
          <p:cNvSpPr/>
          <p:nvPr/>
        </p:nvSpPr>
        <p:spPr>
          <a:xfrm>
            <a:off x="5644958" y="2162486"/>
            <a:ext cx="1063438" cy="2066544"/>
          </a:xfrm>
          <a:prstGeom prst="roundRect">
            <a:avLst>
              <a:gd name="adj" fmla="val 7792"/>
            </a:avLst>
          </a:prstGeom>
          <a:solidFill>
            <a:schemeClr val="accent2"/>
          </a:solidFill>
          <a:ln w="12700">
            <a:noFill/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Accent 2</a:t>
            </a:r>
            <a:endParaRPr lang="en-US" sz="1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0" name="Text 10">
            <a:extLst>
              <a:ext uri="{FF2B5EF4-FFF2-40B4-BE49-F238E27FC236}">
                <a16:creationId xmlns:a16="http://schemas.microsoft.com/office/drawing/2014/main" id="{B7C7F00E-C2AC-834E-C3C1-A8E084C91617}"/>
              </a:ext>
            </a:extLst>
          </p:cNvPr>
          <p:cNvSpPr/>
          <p:nvPr/>
        </p:nvSpPr>
        <p:spPr>
          <a:xfrm>
            <a:off x="6874127" y="2162486"/>
            <a:ext cx="1063438" cy="2066544"/>
          </a:xfrm>
          <a:prstGeom prst="roundRect">
            <a:avLst>
              <a:gd name="adj" fmla="val 7792"/>
            </a:avLst>
          </a:prstGeom>
          <a:solidFill>
            <a:schemeClr val="accent3"/>
          </a:solidFill>
          <a:ln w="12700">
            <a:noFill/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Accent 3</a:t>
            </a:r>
            <a:endParaRPr lang="en-US" sz="16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2" name="Text 11">
            <a:extLst>
              <a:ext uri="{FF2B5EF4-FFF2-40B4-BE49-F238E27FC236}">
                <a16:creationId xmlns:a16="http://schemas.microsoft.com/office/drawing/2014/main" id="{631DF288-3E30-7C36-B764-8570E41D9B84}"/>
              </a:ext>
            </a:extLst>
          </p:cNvPr>
          <p:cNvSpPr/>
          <p:nvPr/>
        </p:nvSpPr>
        <p:spPr>
          <a:xfrm>
            <a:off x="8103295" y="2162486"/>
            <a:ext cx="1063438" cy="2066544"/>
          </a:xfrm>
          <a:prstGeom prst="roundRect">
            <a:avLst>
              <a:gd name="adj" fmla="val 7792"/>
            </a:avLst>
          </a:prstGeom>
          <a:solidFill>
            <a:schemeClr val="accent4"/>
          </a:solidFill>
          <a:ln w="12700">
            <a:noFill/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Accent 4</a:t>
            </a:r>
            <a:endParaRPr lang="en-US" sz="1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4" name="Text 12">
            <a:extLst>
              <a:ext uri="{FF2B5EF4-FFF2-40B4-BE49-F238E27FC236}">
                <a16:creationId xmlns:a16="http://schemas.microsoft.com/office/drawing/2014/main" id="{078CECE5-9F5E-82BA-9AA2-4EA8D7C6406E}"/>
              </a:ext>
            </a:extLst>
          </p:cNvPr>
          <p:cNvSpPr/>
          <p:nvPr/>
        </p:nvSpPr>
        <p:spPr>
          <a:xfrm>
            <a:off x="9332464" y="2162486"/>
            <a:ext cx="1063438" cy="2066544"/>
          </a:xfrm>
          <a:prstGeom prst="roundRect">
            <a:avLst>
              <a:gd name="adj" fmla="val 7792"/>
            </a:avLst>
          </a:prstGeom>
          <a:solidFill>
            <a:schemeClr val="accent5"/>
          </a:solidFill>
          <a:ln w="12700">
            <a:noFill/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Accent 5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6" name="Text 13">
            <a:extLst>
              <a:ext uri="{FF2B5EF4-FFF2-40B4-BE49-F238E27FC236}">
                <a16:creationId xmlns:a16="http://schemas.microsoft.com/office/drawing/2014/main" id="{65CCAA83-EEFD-F9D8-09BE-22918D0F9B7B}"/>
              </a:ext>
            </a:extLst>
          </p:cNvPr>
          <p:cNvSpPr/>
          <p:nvPr/>
        </p:nvSpPr>
        <p:spPr>
          <a:xfrm>
            <a:off x="10561633" y="2162486"/>
            <a:ext cx="1063438" cy="2066544"/>
          </a:xfrm>
          <a:prstGeom prst="roundRect">
            <a:avLst>
              <a:gd name="adj" fmla="val 7792"/>
            </a:avLst>
          </a:prstGeom>
          <a:solidFill>
            <a:schemeClr val="accent6"/>
          </a:solidFill>
          <a:ln w="12700">
            <a:noFill/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6">
                    <a:lumMod val="2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Accent 6</a:t>
            </a:r>
            <a:endParaRPr lang="en-US" sz="1600" dirty="0">
              <a:solidFill>
                <a:schemeClr val="accent6">
                  <a:lumMod val="25000"/>
                </a:schemeClr>
              </a:solidFill>
            </a:endParaRPr>
          </a:p>
        </p:txBody>
      </p:sp>
      <p:sp>
        <p:nvSpPr>
          <p:cNvPr id="244" name="Text 17">
            <a:extLst>
              <a:ext uri="{FF2B5EF4-FFF2-40B4-BE49-F238E27FC236}">
                <a16:creationId xmlns:a16="http://schemas.microsoft.com/office/drawing/2014/main" id="{CAB5EED8-FA14-C87C-D661-6BBF28DE2E61}"/>
              </a:ext>
            </a:extLst>
          </p:cNvPr>
          <p:cNvSpPr/>
          <p:nvPr/>
        </p:nvSpPr>
        <p:spPr>
          <a:xfrm>
            <a:off x="566928" y="4768406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0" b="1" spc="80" baseline="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</a:t>
            </a:r>
            <a:endParaRPr lang="en-US" sz="11500" spc="8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6" name="Text 18">
            <a:extLst>
              <a:ext uri="{FF2B5EF4-FFF2-40B4-BE49-F238E27FC236}">
                <a16:creationId xmlns:a16="http://schemas.microsoft.com/office/drawing/2014/main" id="{E40F9FD6-CE10-1EF6-ECDD-72D2AAECF7EF}"/>
              </a:ext>
            </a:extLst>
          </p:cNvPr>
          <p:cNvSpPr/>
          <p:nvPr/>
        </p:nvSpPr>
        <p:spPr>
          <a:xfrm>
            <a:off x="2770632" y="4828445"/>
            <a:ext cx="1828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FONT USED</a:t>
            </a:r>
            <a:endParaRPr lang="en-US" sz="1600" dirty="0"/>
          </a:p>
        </p:txBody>
      </p:sp>
      <p:sp>
        <p:nvSpPr>
          <p:cNvPr id="248" name="Text 19">
            <a:extLst>
              <a:ext uri="{FF2B5EF4-FFF2-40B4-BE49-F238E27FC236}">
                <a16:creationId xmlns:a16="http://schemas.microsoft.com/office/drawing/2014/main" id="{3F7E87A3-A440-0C17-6E5F-5617009C68F8}"/>
              </a:ext>
            </a:extLst>
          </p:cNvPr>
          <p:cNvSpPr/>
          <p:nvPr/>
        </p:nvSpPr>
        <p:spPr>
          <a:xfrm>
            <a:off x="2761488" y="5253038"/>
            <a:ext cx="47548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spc="80" baseline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Calibri</a:t>
            </a:r>
            <a:endParaRPr lang="en-US" sz="3200" spc="80" baseline="0" dirty="0"/>
          </a:p>
        </p:txBody>
      </p:sp>
      <p:sp>
        <p:nvSpPr>
          <p:cNvPr id="250" name="Text 20">
            <a:extLst>
              <a:ext uri="{FF2B5EF4-FFF2-40B4-BE49-F238E27FC236}">
                <a16:creationId xmlns:a16="http://schemas.microsoft.com/office/drawing/2014/main" id="{15C91DA8-3F06-9D9D-0AF7-AFFAB5C703D3}"/>
              </a:ext>
            </a:extLst>
          </p:cNvPr>
          <p:cNvSpPr/>
          <p:nvPr/>
        </p:nvSpPr>
        <p:spPr>
          <a:xfrm>
            <a:off x="2779776" y="6007238"/>
            <a:ext cx="7768954" cy="2472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spAutoFit/>
          </a:bodyPr>
          <a:lstStyle/>
          <a:p>
            <a:pPr marL="0" indent="0" algn="l">
              <a:buNone/>
            </a:pPr>
            <a:r>
              <a:rPr lang="en-US" sz="1600" spc="40" baseline="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ABCDEFGHIJKLMNOPQRSTUVWXYZ  ·  abcdefghijklmnopqrstuvwxyz  ·  1234567890</a:t>
            </a:r>
            <a:endParaRPr lang="en-US" sz="1600" spc="4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6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igned by Presentati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F0C052-A5D5-A3A7-5015-B8AD6BFA38B5}"/>
              </a:ext>
            </a:extLst>
          </p:cNvPr>
          <p:cNvSpPr txBox="1"/>
          <p:nvPr/>
        </p:nvSpPr>
        <p:spPr>
          <a:xfrm>
            <a:off x="667330" y="550033"/>
            <a:ext cx="206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BDC3D9-4956-070F-F72D-978CD8717498}"/>
              </a:ext>
            </a:extLst>
          </p:cNvPr>
          <p:cNvGrpSpPr/>
          <p:nvPr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1B15682-086B-6549-3383-789D334FDAC4}"/>
                </a:ext>
              </a:extLst>
            </p:cNvPr>
            <p:cNvSpPr/>
            <p:nvPr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49345AB-AD63-E181-3B5F-534FD2A982FA}"/>
                </a:ext>
              </a:extLst>
            </p:cNvPr>
            <p:cNvSpPr/>
            <p:nvPr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FD9E41AE-A002-9005-E6E5-3580179613F9}"/>
              </a:ext>
            </a:extLst>
          </p:cNvPr>
          <p:cNvSpPr/>
          <p:nvPr/>
        </p:nvSpPr>
        <p:spPr>
          <a:xfrm>
            <a:off x="210595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F46B88B0-8416-31F6-5282-9C6E196C9A56}"/>
              </a:ext>
            </a:extLst>
          </p:cNvPr>
          <p:cNvSpPr/>
          <p:nvPr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9E8C2-CD1B-F803-4119-F7DE75A32CC8}"/>
              </a:ext>
            </a:extLst>
          </p:cNvPr>
          <p:cNvSpPr txBox="1"/>
          <p:nvPr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4583D-5F52-5CCA-15D5-7930FA3C51C6}"/>
              </a:ext>
            </a:extLst>
          </p:cNvPr>
          <p:cNvSpPr txBox="1"/>
          <p:nvPr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B69F-8B28-B3CE-9A02-F10F35E92CA5}"/>
              </a:ext>
            </a:extLst>
          </p:cNvPr>
          <p:cNvSpPr txBox="1"/>
          <p:nvPr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3339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hyperlink" Target="http://www.presentationgo.com/" TargetMode="Externa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DBCE06-E8C4-2C00-3267-202ED031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A21C2-F58A-29BB-D4CF-1C5766363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14B08-A21E-D074-A41D-7F59F603C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5216D2-FA51-41AD-99B9-8D6BA79E2D0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C12FD-5A75-72D6-7084-DDBD3B74C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37699-1FC9-BE78-8786-6117E2A52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94034E6-0BA9-4848-A588-C3FB0CC8F4C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106C2B-737D-2589-B2EF-B01C3BCD7B99}"/>
              </a:ext>
            </a:extLst>
          </p:cNvPr>
          <p:cNvGrpSpPr/>
          <p:nvPr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E7BBC24-7814-7D02-299A-BA617A786359}"/>
                </a:ext>
              </a:extLst>
            </p:cNvPr>
            <p:cNvGrpSpPr/>
            <p:nvPr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A25B8E-737E-AE20-21C2-7D80E0846E18}"/>
                  </a:ext>
                </a:extLst>
              </p:cNvPr>
              <p:cNvSpPr txBox="1"/>
              <p:nvPr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FCCE36-BB04-E8B3-0994-09556154BD4F}"/>
                  </a:ext>
                </a:extLst>
              </p:cNvPr>
              <p:cNvSpPr txBox="1"/>
              <p:nvPr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B88CC17-7428-153C-45E0-2015FD348D9E}"/>
                </a:ext>
              </a:extLst>
            </p:cNvPr>
            <p:cNvGrpSpPr/>
            <p:nvPr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10" name="Shape">
                <a:extLst>
                  <a:ext uri="{FF2B5EF4-FFF2-40B4-BE49-F238E27FC236}">
                    <a16:creationId xmlns:a16="http://schemas.microsoft.com/office/drawing/2014/main" id="{62BB811D-BD3A-28CF-E338-08458F70D92F}"/>
                  </a:ext>
                </a:extLst>
              </p:cNvPr>
              <p:cNvSpPr/>
              <p:nvPr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Shape">
                <a:extLst>
                  <a:ext uri="{FF2B5EF4-FFF2-40B4-BE49-F238E27FC236}">
                    <a16:creationId xmlns:a16="http://schemas.microsoft.com/office/drawing/2014/main" id="{F3C8C561-9698-2445-CBC0-EB0AA1F0BA52}"/>
                  </a:ext>
                </a:extLst>
              </p:cNvPr>
              <p:cNvSpPr/>
              <p:nvPr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FB4AC-0676-D82A-32E3-C14B7F94F96D}"/>
              </a:ext>
            </a:extLst>
          </p:cNvPr>
          <p:cNvSpPr/>
          <p:nvPr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10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973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E5F91A-C045-8080-A0BF-661C8A332F3A}"/>
              </a:ext>
            </a:extLst>
          </p:cNvPr>
          <p:cNvGrpSpPr/>
          <p:nvPr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0838BA6-0E81-42FC-BA9D-E59707611A82}"/>
                </a:ext>
              </a:extLst>
            </p:cNvPr>
            <p:cNvGrpSpPr/>
            <p:nvPr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10A8BD-15E8-E5F8-83B0-B1211BF64F17}"/>
                  </a:ext>
                </a:extLst>
              </p:cNvPr>
              <p:cNvSpPr txBox="1"/>
              <p:nvPr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6636ED-538E-914B-8011-38A24C8084E4}"/>
                  </a:ext>
                </a:extLst>
              </p:cNvPr>
              <p:cNvSpPr txBox="1"/>
              <p:nvPr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70567FE-FB45-616B-8180-476C39211726}"/>
                </a:ext>
              </a:extLst>
            </p:cNvPr>
            <p:cNvGrpSpPr/>
            <p:nvPr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10" name="Shape">
                <a:extLst>
                  <a:ext uri="{FF2B5EF4-FFF2-40B4-BE49-F238E27FC236}">
                    <a16:creationId xmlns:a16="http://schemas.microsoft.com/office/drawing/2014/main" id="{7BBD3F98-3DE2-A4C3-6723-83DE8ED5042F}"/>
                  </a:ext>
                </a:extLst>
              </p:cNvPr>
              <p:cNvSpPr/>
              <p:nvPr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Shape">
                <a:extLst>
                  <a:ext uri="{FF2B5EF4-FFF2-40B4-BE49-F238E27FC236}">
                    <a16:creationId xmlns:a16="http://schemas.microsoft.com/office/drawing/2014/main" id="{5A4ECCA2-E5CC-DD21-DA27-A85F4D398922}"/>
                  </a:ext>
                </a:extLst>
              </p:cNvPr>
              <p:cNvSpPr/>
              <p:nvPr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537A9-36A4-C362-0176-D7BC8A6F38F7}"/>
              </a:ext>
            </a:extLst>
          </p:cNvPr>
          <p:cNvSpPr/>
          <p:nvPr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723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4">
            <a:extLst>
              <a:ext uri="{FF2B5EF4-FFF2-40B4-BE49-F238E27FC236}">
                <a16:creationId xmlns:a16="http://schemas.microsoft.com/office/drawing/2014/main" id="{BAF504AE-EA38-FC9B-5624-3605B09CF85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75" y="446414"/>
            <a:ext cx="1770801" cy="1302589"/>
          </a:xfrm>
          <a:prstGeom prst="rect">
            <a:avLst/>
          </a:prstGeom>
        </p:spPr>
      </p:pic>
      <p:sp>
        <p:nvSpPr>
          <p:cNvPr id="12" name="object 2" descr="$PPTXTitle">
            <a:extLst>
              <a:ext uri="{FF2B5EF4-FFF2-40B4-BE49-F238E27FC236}">
                <a16:creationId xmlns:a16="http://schemas.microsoft.com/office/drawing/2014/main" id="{2A0445C3-26E7-83A4-D5D0-8DDC7A078C9B}"/>
              </a:ext>
            </a:extLst>
          </p:cNvPr>
          <p:cNvSpPr txBox="1">
            <a:spLocks/>
          </p:cNvSpPr>
          <p:nvPr/>
        </p:nvSpPr>
        <p:spPr>
          <a:xfrm>
            <a:off x="2744507" y="452950"/>
            <a:ext cx="8328659" cy="1262525"/>
          </a:xfrm>
          <a:prstGeom prst="rect">
            <a:avLst/>
          </a:prstGeom>
        </p:spPr>
        <p:txBody>
          <a:bodyPr vert="horz" wrap="square" lIns="0" tIns="8191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just">
              <a:lnSpc>
                <a:spcPts val="4320"/>
              </a:lnSpc>
              <a:spcBef>
                <a:spcPts val="645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40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Mandvi</a:t>
            </a:r>
            <a:r>
              <a:rPr lang="en-US" sz="40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en-US" sz="4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 </a:t>
            </a:r>
          </a:p>
          <a:p>
            <a:pPr marL="12700" marR="5080" algn="just">
              <a:lnSpc>
                <a:spcPts val="4320"/>
              </a:lnSpc>
              <a:spcBef>
                <a:spcPts val="645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lang="en-US" sz="4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40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4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lang="en-US" sz="4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40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MCA</a:t>
            </a: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DFC01B2C-ED20-3CCE-5150-8B4424DFD899}"/>
              </a:ext>
            </a:extLst>
          </p:cNvPr>
          <p:cNvSpPr txBox="1">
            <a:spLocks/>
          </p:cNvSpPr>
          <p:nvPr/>
        </p:nvSpPr>
        <p:spPr>
          <a:xfrm>
            <a:off x="825500" y="1981486"/>
            <a:ext cx="11214100" cy="2377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algn="just">
              <a:lnSpc>
                <a:spcPct val="119800"/>
              </a:lnSpc>
              <a:spcBef>
                <a:spcPts val="95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US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r>
              <a:rPr lang="en-US" b="1" spc="6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(Phase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)/Minor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</a:p>
          <a:p>
            <a:pPr marL="12700" marR="5080" algn="just">
              <a:lnSpc>
                <a:spcPct val="119800"/>
              </a:lnSpc>
              <a:spcBef>
                <a:spcPts val="95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US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r>
              <a:rPr lang="en-US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MC03094171</a:t>
            </a:r>
          </a:p>
          <a:p>
            <a:pPr marL="12700" marR="5080" algn="just">
              <a:lnSpc>
                <a:spcPct val="119800"/>
              </a:lnSpc>
              <a:spcBef>
                <a:spcPts val="95"/>
              </a:spcBef>
            </a:pP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spcBef>
                <a:spcPts val="95"/>
              </a:spcBef>
            </a:pPr>
            <a:r>
              <a:rPr lang="en-US" sz="3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en-US" sz="36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Digital-Assisted Luxury Car </a:t>
            </a:r>
          </a:p>
          <a:p>
            <a:pPr marL="12700" marR="5080" algn="just">
              <a:spcBef>
                <a:spcPts val="95"/>
              </a:spcBef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Showroom (BMW)</a:t>
            </a: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C24028A6-8C60-BF49-5639-8F921C23F5FB}"/>
              </a:ext>
            </a:extLst>
          </p:cNvPr>
          <p:cNvSpPr txBox="1"/>
          <p:nvPr/>
        </p:nvSpPr>
        <p:spPr>
          <a:xfrm>
            <a:off x="825500" y="4661151"/>
            <a:ext cx="4051300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50315" algn="just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Prepared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By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:-</a:t>
            </a:r>
            <a:endParaRPr sz="24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710"/>
              </a:spcBef>
            </a:pPr>
            <a:r>
              <a:rPr lang="en-IN" sz="2400" dirty="0">
                <a:latin typeface="Times New Roman"/>
                <a:cs typeface="Times New Roman"/>
              </a:rPr>
              <a:t>Jay Garasiya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lang="en-IN" sz="2400" dirty="0">
                <a:latin typeface="Times New Roman"/>
                <a:cs typeface="Times New Roman"/>
              </a:rPr>
              <a:t>255630694011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endParaRPr lang="en-IN" sz="2400" spc="-20" dirty="0">
              <a:latin typeface="Times New Roman"/>
              <a:cs typeface="Times New Roman"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53D2F86F-C831-3FBD-E4EF-46AD5A302D56}"/>
              </a:ext>
            </a:extLst>
          </p:cNvPr>
          <p:cNvSpPr txBox="1">
            <a:spLocks/>
          </p:cNvSpPr>
          <p:nvPr/>
        </p:nvSpPr>
        <p:spPr>
          <a:xfrm>
            <a:off x="8945698" y="4661151"/>
            <a:ext cx="1702434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just">
              <a:lnSpc>
                <a:spcPts val="272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A242DA2A-06F7-B00E-9C26-195FC40D8EB2}"/>
              </a:ext>
            </a:extLst>
          </p:cNvPr>
          <p:cNvSpPr txBox="1">
            <a:spLocks/>
          </p:cNvSpPr>
          <p:nvPr/>
        </p:nvSpPr>
        <p:spPr>
          <a:xfrm>
            <a:off x="7988300" y="5120251"/>
            <a:ext cx="4051300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just">
              <a:lnSpc>
                <a:spcPts val="2720"/>
              </a:lnSpc>
            </a:pP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Ms. Divya M. Patel </a:t>
            </a:r>
          </a:p>
        </p:txBody>
      </p:sp>
    </p:spTree>
    <p:extLst>
      <p:ext uri="{BB962C8B-B14F-4D97-AF65-F5344CB8AC3E}">
        <p14:creationId xmlns:p14="http://schemas.microsoft.com/office/powerpoint/2010/main" val="259201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B674-F181-0663-34BD-B4B071CDB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E6D4-F194-71B4-34B1-7B2CCE7FA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to Customer-Centricity: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Premium auto retail is moving from product focus to personalized customer experiences.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 Expectations: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Buyers demand exclusive, personalized, and emotionally engaging journeys.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"Phygital" Showroom Concept: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physical spaces with AI, AR, and VR technology tailored to customer personas.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&amp; Physical Integration: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Bridges traditional showroom layouts with interactive digital personalization.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C851E-3760-6937-C22C-6DDD0A77C453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1</a:t>
            </a:r>
          </a:p>
        </p:txBody>
      </p:sp>
    </p:spTree>
    <p:extLst>
      <p:ext uri="{BB962C8B-B14F-4D97-AF65-F5344CB8AC3E}">
        <p14:creationId xmlns:p14="http://schemas.microsoft.com/office/powerpoint/2010/main" val="2186440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95FE-B7CF-869C-47B6-9586BBC44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C91F7-5313-8F2B-1B24-ACDFC2AF2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High-Involvement Decision: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Buying luxury cars is driven by price, brand image, style, performance, and status.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Evolving Retail Formats: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Shifting from traditional dealerships to boutique stores, pop-ups, and immersive experience centers.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Tech-Driven Journeys: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AR, VR, and AI redefine vehicle exploration, configuration, and customer interaction.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"Future Luxury" Design: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Interiors require aerodynamic aesthetics and premium customer lounges.</a:t>
            </a:r>
          </a:p>
          <a:p>
            <a:pPr algn="just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161295-EA1C-4E1E-2A3F-E12311BF7BCE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2</a:t>
            </a:r>
          </a:p>
        </p:txBody>
      </p:sp>
    </p:spTree>
    <p:extLst>
      <p:ext uri="{BB962C8B-B14F-4D97-AF65-F5344CB8AC3E}">
        <p14:creationId xmlns:p14="http://schemas.microsoft.com/office/powerpoint/2010/main" val="4142009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4EBEB-0DDA-DB82-31F5-0C74CA02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B84F1-8669-969B-CFA9-F22E2CA7F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VIP Platforms: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High-end sales rely heavily on manual effort, driving the need for automated platforms to manage VIP services.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Physical-Digital Integration: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showrooms lack a single platform linking spatial architecture with interactive digital displays.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Persona Mapping: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systems are needed to map customer personas (humanistic, methodical, spontaneous, competitive) directly to showroom experiences.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2FC61-544F-BC0A-B485-BA4E16C6A888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3</a:t>
            </a:r>
          </a:p>
        </p:txBody>
      </p:sp>
    </p:spTree>
    <p:extLst>
      <p:ext uri="{BB962C8B-B14F-4D97-AF65-F5344CB8AC3E}">
        <p14:creationId xmlns:p14="http://schemas.microsoft.com/office/powerpoint/2010/main" val="319682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0D541-9E62-1F46-68F5-95352E705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90D55-23E8-5030-A9D9-ECEB9D4AD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Recommendation Engine: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preferences to suggest tailored luxury vehicles.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AR/VR Configurator: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real-time vehicle customization in a digital showroom.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VIP Loyalty Platform: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fast-lane services, private test drives, and exclusive community events.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Physical-Digital Architectural Integration: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Merges physical zones (luxury lounges, EV i-Corners) with digital touchpoints.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37ED5-5F8D-6C3C-C8B7-BB175DD67EA4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4</a:t>
            </a:r>
          </a:p>
        </p:txBody>
      </p:sp>
    </p:spTree>
    <p:extLst>
      <p:ext uri="{BB962C8B-B14F-4D97-AF65-F5344CB8AC3E}">
        <p14:creationId xmlns:p14="http://schemas.microsoft.com/office/powerpoint/2010/main" val="427147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8E72-3B5F-9589-BBA4-2ABEC2AC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D093B-2F4D-79EF-135A-F08CBE873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B2C Segment Target: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exclusively on individual luxury car buyers, excluding fleet or B2B clients.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Journey: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Covers all stages—pre-purchase, purchase, and post-purchase community engagement.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Applications: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dedicated software and mobile apps for configuration and service management.</a:t>
            </a:r>
          </a:p>
          <a:p>
            <a:pPr lvl="0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Layout Integration: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spatial and design guidelines for physical showroom environments.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2A387-4D17-610C-3EF5-96A6106E1363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5</a:t>
            </a:r>
          </a:p>
        </p:txBody>
      </p:sp>
    </p:spTree>
    <p:extLst>
      <p:ext uri="{BB962C8B-B14F-4D97-AF65-F5344CB8AC3E}">
        <p14:creationId xmlns:p14="http://schemas.microsoft.com/office/powerpoint/2010/main" val="399630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6482-5DB0-AB5E-0486-D2FD0D0E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847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C5C53D0-F0B4-EB1C-A1A0-619C1A7C6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326721"/>
              </p:ext>
            </p:extLst>
          </p:nvPr>
        </p:nvGraphicFramePr>
        <p:xfrm>
          <a:off x="766916" y="1494041"/>
          <a:ext cx="11071121" cy="507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224">
                  <a:extLst>
                    <a:ext uri="{9D8B030D-6E8A-4147-A177-3AD203B41FA5}">
                      <a16:colId xmlns:a16="http://schemas.microsoft.com/office/drawing/2014/main" val="582995105"/>
                    </a:ext>
                  </a:extLst>
                </a:gridCol>
                <a:gridCol w="2214224">
                  <a:extLst>
                    <a:ext uri="{9D8B030D-6E8A-4147-A177-3AD203B41FA5}">
                      <a16:colId xmlns:a16="http://schemas.microsoft.com/office/drawing/2014/main" val="2446554209"/>
                    </a:ext>
                  </a:extLst>
                </a:gridCol>
                <a:gridCol w="1855931">
                  <a:extLst>
                    <a:ext uri="{9D8B030D-6E8A-4147-A177-3AD203B41FA5}">
                      <a16:colId xmlns:a16="http://schemas.microsoft.com/office/drawing/2014/main" val="1502827336"/>
                    </a:ext>
                  </a:extLst>
                </a:gridCol>
                <a:gridCol w="2572518">
                  <a:extLst>
                    <a:ext uri="{9D8B030D-6E8A-4147-A177-3AD203B41FA5}">
                      <a16:colId xmlns:a16="http://schemas.microsoft.com/office/drawing/2014/main" val="1758066895"/>
                    </a:ext>
                  </a:extLst>
                </a:gridCol>
                <a:gridCol w="2214224">
                  <a:extLst>
                    <a:ext uri="{9D8B030D-6E8A-4147-A177-3AD203B41FA5}">
                      <a16:colId xmlns:a16="http://schemas.microsoft.com/office/drawing/2014/main" val="1473160712"/>
                    </a:ext>
                  </a:extLst>
                </a:gridCol>
              </a:tblGrid>
              <a:tr h="34225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150764"/>
                  </a:ext>
                </a:extLst>
              </a:tr>
              <a:tr h="1369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Customer Relations BMW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Eurokars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Amanda Putri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Fakhrana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Burhanuddin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BMW’s CRM, VIP events, fast-lane services, and customer relationships.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covers CRM and after-sales, with less focus on technology and automation.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97641"/>
                  </a:ext>
                </a:extLst>
              </a:tr>
              <a:tr h="150479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Exploring the Future of Sustainable Pioneering Automotive Retail Formats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 Charly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Schmacke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Covers customer segments and future automotive retail formats.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Germany, Austria, and Switzerland and mainly focuses on B2C customers.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329415"/>
                  </a:ext>
                </a:extLst>
              </a:tr>
              <a:tr h="17280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Redesigning the Customer Journey: Digital Technologies in the Luxury Automotive Sector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Alessandro Battiston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Covers AI, IoT, AR, and VR to improve luxury car customer experience.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implementation costs and concerns about privacy, security, and data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0520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53F4836-C86D-FC47-F8CB-7630528484ED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6</a:t>
            </a:r>
          </a:p>
        </p:txBody>
      </p:sp>
    </p:spTree>
    <p:extLst>
      <p:ext uri="{BB962C8B-B14F-4D97-AF65-F5344CB8AC3E}">
        <p14:creationId xmlns:p14="http://schemas.microsoft.com/office/powerpoint/2010/main" val="14376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4B22F9-E9ED-6D2D-00E6-2174E0DFA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175182"/>
              </p:ext>
            </p:extLst>
          </p:nvPr>
        </p:nvGraphicFramePr>
        <p:xfrm>
          <a:off x="353962" y="914400"/>
          <a:ext cx="11484075" cy="5375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380">
                  <a:extLst>
                    <a:ext uri="{9D8B030D-6E8A-4147-A177-3AD203B41FA5}">
                      <a16:colId xmlns:a16="http://schemas.microsoft.com/office/drawing/2014/main" val="582995105"/>
                    </a:ext>
                  </a:extLst>
                </a:gridCol>
                <a:gridCol w="2143432">
                  <a:extLst>
                    <a:ext uri="{9D8B030D-6E8A-4147-A177-3AD203B41FA5}">
                      <a16:colId xmlns:a16="http://schemas.microsoft.com/office/drawing/2014/main" val="2446554209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1502827336"/>
                    </a:ext>
                  </a:extLst>
                </a:gridCol>
                <a:gridCol w="3238745">
                  <a:extLst>
                    <a:ext uri="{9D8B030D-6E8A-4147-A177-3AD203B41FA5}">
                      <a16:colId xmlns:a16="http://schemas.microsoft.com/office/drawing/2014/main" val="1758066895"/>
                    </a:ext>
                  </a:extLst>
                </a:gridCol>
                <a:gridCol w="2296815">
                  <a:extLst>
                    <a:ext uri="{9D8B030D-6E8A-4147-A177-3AD203B41FA5}">
                      <a16:colId xmlns:a16="http://schemas.microsoft.com/office/drawing/2014/main" val="1473160712"/>
                    </a:ext>
                  </a:extLst>
                </a:gridCol>
              </a:tblGrid>
              <a:tr h="34662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150764"/>
                  </a:ext>
                </a:extLst>
              </a:tr>
              <a:tr h="138041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Concept of Future Luxury on the Interior Display Area at BMW Astra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Serpong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Showroom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Imelda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Angelaine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Adi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Ismanto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Kris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Wardhana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future luxury concepts and modern showroom interior design.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one BMW showroom and mainly concerned with physical design.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329415"/>
                  </a:ext>
                </a:extLst>
              </a:tr>
              <a:tr h="138649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Influence of Brand Image and Consumer Lifestyle on BMW Car Purchasing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Putri Valerie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Edinata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Ecin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Kuraesin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Lenny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Muniroh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Covers the role of brand image and lifestyle in BMW purchase decisions.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 small sample and does not cover physical or digital showroom experiences.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99121"/>
                  </a:ext>
                </a:extLst>
              </a:tr>
              <a:tr h="21663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Typology of Design Concepts for Luxury Car Showrooms 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Mervyn Wong Hsin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Jyi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Atta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Idrawani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Zaini, Dona Rose Amer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Koesmeri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Ruzanah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Abu Bakar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Characterizes physical design typologies of luxury showrooms and evaluates how Corporate Identity guidelines shape layouts.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physical showrooms and the Malaysian context.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62493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140A7E2-E5DF-5983-4D44-A7E8B8FE7108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7</a:t>
            </a:r>
          </a:p>
        </p:txBody>
      </p:sp>
    </p:spTree>
    <p:extLst>
      <p:ext uri="{BB962C8B-B14F-4D97-AF65-F5344CB8AC3E}">
        <p14:creationId xmlns:p14="http://schemas.microsoft.com/office/powerpoint/2010/main" val="1130327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1DEE82-192B-75B0-4148-BA47CF31C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446340"/>
              </p:ext>
            </p:extLst>
          </p:nvPr>
        </p:nvGraphicFramePr>
        <p:xfrm>
          <a:off x="353962" y="1234440"/>
          <a:ext cx="1148407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6815">
                  <a:extLst>
                    <a:ext uri="{9D8B030D-6E8A-4147-A177-3AD203B41FA5}">
                      <a16:colId xmlns:a16="http://schemas.microsoft.com/office/drawing/2014/main" val="582995105"/>
                    </a:ext>
                  </a:extLst>
                </a:gridCol>
                <a:gridCol w="2296815">
                  <a:extLst>
                    <a:ext uri="{9D8B030D-6E8A-4147-A177-3AD203B41FA5}">
                      <a16:colId xmlns:a16="http://schemas.microsoft.com/office/drawing/2014/main" val="2446554209"/>
                    </a:ext>
                  </a:extLst>
                </a:gridCol>
                <a:gridCol w="1384382">
                  <a:extLst>
                    <a:ext uri="{9D8B030D-6E8A-4147-A177-3AD203B41FA5}">
                      <a16:colId xmlns:a16="http://schemas.microsoft.com/office/drawing/2014/main" val="1502827336"/>
                    </a:ext>
                  </a:extLst>
                </a:gridCol>
                <a:gridCol w="3209248">
                  <a:extLst>
                    <a:ext uri="{9D8B030D-6E8A-4147-A177-3AD203B41FA5}">
                      <a16:colId xmlns:a16="http://schemas.microsoft.com/office/drawing/2014/main" val="1758066895"/>
                    </a:ext>
                  </a:extLst>
                </a:gridCol>
                <a:gridCol w="2296815">
                  <a:extLst>
                    <a:ext uri="{9D8B030D-6E8A-4147-A177-3AD203B41FA5}">
                      <a16:colId xmlns:a16="http://schemas.microsoft.com/office/drawing/2014/main" val="1473160712"/>
                    </a:ext>
                  </a:extLst>
                </a:gridCol>
              </a:tblGrid>
              <a:tr h="33924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150764"/>
                  </a:ext>
                </a:extLst>
              </a:tr>
              <a:tr h="186582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Factors Influencing Purchase Decision and Consumer Behavior in Luxury Cars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Aishwarya Gokhale, Abinash Mishra, Dr. Ramar Veluchamy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how parameters like price, style, performance, and social factors impact luxury car purchase intentions.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primarily on the Indian market; offers limited exploration into online/digital showroom touchpoints.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329415"/>
                  </a:ext>
                </a:extLst>
              </a:tr>
              <a:tr h="186582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Investigating the Determinants of Customer Experience with Affordable Luxury Sport Car Brands in 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Philipp R. Schnierle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Explores customer brand experience drivers and maps touchpoints across pre-purchase, purchase, and post-purchase stages.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Geographically limited to Germany; relies on qualitative in-depth interviews making mass-market generalization difficult.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9912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01ACDFA-B149-C3CE-5B48-AC67D975D72F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8</a:t>
            </a:r>
          </a:p>
        </p:txBody>
      </p:sp>
    </p:spTree>
    <p:extLst>
      <p:ext uri="{BB962C8B-B14F-4D97-AF65-F5344CB8AC3E}">
        <p14:creationId xmlns:p14="http://schemas.microsoft.com/office/powerpoint/2010/main" val="3584998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E8A4-9141-9285-4B0D-4A5F35D77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2426" y="18255"/>
            <a:ext cx="9151374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F950-12BB-AA46-F4F3-3623BA29C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555" y="1461831"/>
            <a:ext cx="9489358" cy="4351338"/>
          </a:xfrm>
        </p:spPr>
        <p:txBody>
          <a:bodyPr>
            <a:normAutofit fontScale="25000" lnSpcReduction="20000"/>
          </a:bodyPr>
          <a:lstStyle/>
          <a:p>
            <a:pPr lvl="0" algn="just">
              <a:lnSpc>
                <a:spcPct val="160000"/>
              </a:lnSpc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 Recommendation: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rule-based recommendation engine suggests suitable BMW cars according to customer preferences. </a:t>
            </a:r>
          </a:p>
          <a:p>
            <a:pPr lvl="0" algn="just">
              <a:lnSpc>
                <a:spcPct val="160000"/>
              </a:lnSpc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Car Configurator: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can explore and customize the vehicle digitally. </a:t>
            </a:r>
          </a:p>
          <a:p>
            <a:pPr lvl="0" algn="just">
              <a:lnSpc>
                <a:spcPct val="160000"/>
              </a:lnSpc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AR/VR Experience: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can interact with and visualize the vehicle in an immersive environment. </a:t>
            </a:r>
          </a:p>
          <a:p>
            <a:pPr lvl="0" algn="just">
              <a:lnSpc>
                <a:spcPct val="160000"/>
              </a:lnSpc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+ Digital Integration: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digital touchpoints with showroom areas such as luxury lounges and EV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-Corners. </a:t>
            </a:r>
          </a:p>
          <a:p>
            <a:pPr lvl="0" algn="just">
              <a:lnSpc>
                <a:spcPct val="160000"/>
              </a:lnSpc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Customer Journey: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the customer from pre-purchase through purchase and post-purchase engagement.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41C17-EDAA-54B2-4257-C40EFA6AAD30}"/>
              </a:ext>
            </a:extLst>
          </p:cNvPr>
          <p:cNvSpPr txBox="1"/>
          <p:nvPr/>
        </p:nvSpPr>
        <p:spPr>
          <a:xfrm>
            <a:off x="452284" y="64401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C25FA3-C197-E0DA-FCD9-3001F06261B0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9</a:t>
            </a:r>
          </a:p>
        </p:txBody>
      </p:sp>
    </p:spTree>
    <p:extLst>
      <p:ext uri="{BB962C8B-B14F-4D97-AF65-F5344CB8AC3E}">
        <p14:creationId xmlns:p14="http://schemas.microsoft.com/office/powerpoint/2010/main" val="2072990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4FA5-31C2-5CB4-8116-816E8D667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799" y="136242"/>
            <a:ext cx="77724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Tools/Technologies/Hardware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432714-8DB6-F25F-493B-598769E34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578631"/>
              </p:ext>
            </p:extLst>
          </p:nvPr>
        </p:nvGraphicFramePr>
        <p:xfrm>
          <a:off x="838200" y="1661190"/>
          <a:ext cx="10515600" cy="442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573325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32597796"/>
                    </a:ext>
                  </a:extLst>
                </a:gridCol>
              </a:tblGrid>
              <a:tr h="3933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Technologies / Hardware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438386"/>
                  </a:ext>
                </a:extLst>
              </a:tr>
              <a:tr h="3933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React.js, TypeScript, Tailwind 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937400"/>
                  </a:ext>
                </a:extLst>
              </a:tr>
              <a:tr h="3933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&amp;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Three Fiber, Three.js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847046"/>
                  </a:ext>
                </a:extLst>
              </a:tr>
              <a:tr h="3933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Framer Motion, GSAP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136016"/>
                  </a:ext>
                </a:extLst>
              </a:tr>
              <a:tr h="3933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Node.js, Express.js, TypeScript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516096"/>
                  </a:ext>
                </a:extLst>
              </a:tr>
              <a:tr h="3933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MongoDB, Mongoose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941986"/>
                  </a:ext>
                </a:extLst>
              </a:tr>
              <a:tr h="3933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290857"/>
                  </a:ext>
                </a:extLst>
              </a:tr>
              <a:tr h="3933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Tools/Deploy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Studio Code, Git,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158333"/>
                  </a:ext>
                </a:extLst>
              </a:tr>
              <a:tr h="40975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Core i3 / AMD Ryzen 3 or higher, 4 GB RAM/ 128 GB SSD or higher, </a:t>
                      </a:r>
                      <a:r>
                        <a:rPr lang="en-US" dirty="0"/>
                        <a:t>Android 9+ / iOS 13+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810319"/>
                  </a:ext>
                </a:extLst>
              </a:tr>
              <a:tr h="3933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Optional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Dedicated GPU, VR Headset / AR-capable Mobile Device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692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39A8757-AC7A-421F-9DE8-1D6B2F80CD99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10</a:t>
            </a:r>
          </a:p>
        </p:txBody>
      </p:sp>
    </p:spTree>
    <p:extLst>
      <p:ext uri="{BB962C8B-B14F-4D97-AF65-F5344CB8AC3E}">
        <p14:creationId xmlns:p14="http://schemas.microsoft.com/office/powerpoint/2010/main" val="497412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CE11-994C-5158-2FE6-D36679FD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850F2A-4D79-657C-FCA4-AF7D7E04B1A7}"/>
              </a:ext>
            </a:extLst>
          </p:cNvPr>
          <p:cNvSpPr/>
          <p:nvPr/>
        </p:nvSpPr>
        <p:spPr>
          <a:xfrm>
            <a:off x="4930864" y="2840437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Manage Booking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A4CCA2-5446-8A6D-5328-40DE86399C84}"/>
              </a:ext>
            </a:extLst>
          </p:cNvPr>
          <p:cNvSpPr/>
          <p:nvPr/>
        </p:nvSpPr>
        <p:spPr>
          <a:xfrm>
            <a:off x="4970200" y="3394673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Reports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021F0A-4C91-B2FB-2411-CF662EC6A295}"/>
              </a:ext>
            </a:extLst>
          </p:cNvPr>
          <p:cNvSpPr/>
          <p:nvPr/>
        </p:nvSpPr>
        <p:spPr>
          <a:xfrm>
            <a:off x="4970200" y="3960799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Browser Cars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457EF2-EBB0-79F6-DBD7-24DC018725D3}"/>
              </a:ext>
            </a:extLst>
          </p:cNvPr>
          <p:cNvSpPr/>
          <p:nvPr/>
        </p:nvSpPr>
        <p:spPr>
          <a:xfrm>
            <a:off x="4970200" y="4536301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 (3D/AR)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37B474-92D7-ECE8-427F-584417DC383C}"/>
              </a:ext>
            </a:extLst>
          </p:cNvPr>
          <p:cNvSpPr/>
          <p:nvPr/>
        </p:nvSpPr>
        <p:spPr>
          <a:xfrm>
            <a:off x="4970201" y="5107115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Book Test Drive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BEC9901-47C3-B9F8-9718-3520731921C9}"/>
              </a:ext>
            </a:extLst>
          </p:cNvPr>
          <p:cNvSpPr/>
          <p:nvPr/>
        </p:nvSpPr>
        <p:spPr>
          <a:xfrm>
            <a:off x="4970201" y="5677929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Make Purchases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91C6BE-B02B-5FD2-F515-3D34B8A8D39D}"/>
              </a:ext>
            </a:extLst>
          </p:cNvPr>
          <p:cNvSpPr/>
          <p:nvPr/>
        </p:nvSpPr>
        <p:spPr>
          <a:xfrm>
            <a:off x="4970202" y="6232165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Profile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61D1677-4618-F74F-D9CB-3DD066C4777D}"/>
              </a:ext>
            </a:extLst>
          </p:cNvPr>
          <p:cNvSpPr/>
          <p:nvPr/>
        </p:nvSpPr>
        <p:spPr>
          <a:xfrm>
            <a:off x="4866968" y="1082519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Register/Login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46D83F2-E73A-16BA-52BE-F12DCE4C0704}"/>
              </a:ext>
            </a:extLst>
          </p:cNvPr>
          <p:cNvSpPr/>
          <p:nvPr/>
        </p:nvSpPr>
        <p:spPr>
          <a:xfrm>
            <a:off x="4866968" y="1655677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 User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6AADAD9-BE85-A032-4109-E3F1A37FE15F}"/>
              </a:ext>
            </a:extLst>
          </p:cNvPr>
          <p:cNvSpPr/>
          <p:nvPr/>
        </p:nvSpPr>
        <p:spPr>
          <a:xfrm>
            <a:off x="4930863" y="2231179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 Cars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71FAB7-6D42-5D95-0220-AD5A70EB951F}"/>
              </a:ext>
            </a:extLst>
          </p:cNvPr>
          <p:cNvCxnSpPr>
            <a:cxnSpLocks/>
          </p:cNvCxnSpPr>
          <p:nvPr/>
        </p:nvCxnSpPr>
        <p:spPr>
          <a:xfrm flipV="1">
            <a:off x="7297979" y="2448232"/>
            <a:ext cx="1469937" cy="9089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93688D5-845B-508F-A560-ABF7AB7E7DCC}"/>
              </a:ext>
            </a:extLst>
          </p:cNvPr>
          <p:cNvSpPr/>
          <p:nvPr/>
        </p:nvSpPr>
        <p:spPr>
          <a:xfrm>
            <a:off x="8883445" y="2222090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Crud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97C5F88-C67C-1C22-D72E-0F97DE2067B4}"/>
              </a:ext>
            </a:extLst>
          </p:cNvPr>
          <p:cNvSpPr/>
          <p:nvPr/>
        </p:nvSpPr>
        <p:spPr>
          <a:xfrm>
            <a:off x="8883445" y="3960799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Choice 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4CD32F5-8C1C-B060-91E1-F76CF0C75067}"/>
              </a:ext>
            </a:extLst>
          </p:cNvPr>
          <p:cNvSpPr/>
          <p:nvPr/>
        </p:nvSpPr>
        <p:spPr>
          <a:xfrm>
            <a:off x="8883445" y="2840437"/>
            <a:ext cx="2251587" cy="452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View All Details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5405434-34C2-38CF-A7BB-888E63C6C89B}"/>
              </a:ext>
            </a:extLst>
          </p:cNvPr>
          <p:cNvCxnSpPr>
            <a:cxnSpLocks/>
          </p:cNvCxnSpPr>
          <p:nvPr/>
        </p:nvCxnSpPr>
        <p:spPr>
          <a:xfrm flipV="1">
            <a:off x="7317647" y="3062034"/>
            <a:ext cx="1469937" cy="9089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137D67-2E9C-1E9A-BA7B-5C9C0BF1EEF8}"/>
              </a:ext>
            </a:extLst>
          </p:cNvPr>
          <p:cNvCxnSpPr>
            <a:cxnSpLocks/>
          </p:cNvCxnSpPr>
          <p:nvPr/>
        </p:nvCxnSpPr>
        <p:spPr>
          <a:xfrm flipV="1">
            <a:off x="7317647" y="4186941"/>
            <a:ext cx="1469937" cy="9089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Flowchart: Preparation 36">
            <a:extLst>
              <a:ext uri="{FF2B5EF4-FFF2-40B4-BE49-F238E27FC236}">
                <a16:creationId xmlns:a16="http://schemas.microsoft.com/office/drawing/2014/main" id="{5A4CD345-9C92-316A-F434-9FD10F74614A}"/>
              </a:ext>
            </a:extLst>
          </p:cNvPr>
          <p:cNvSpPr/>
          <p:nvPr/>
        </p:nvSpPr>
        <p:spPr>
          <a:xfrm>
            <a:off x="9438964" y="4890809"/>
            <a:ext cx="980768" cy="570814"/>
          </a:xfrm>
          <a:prstGeom prst="flowChartPreparatio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lowchart: Merge 37">
            <a:extLst>
              <a:ext uri="{FF2B5EF4-FFF2-40B4-BE49-F238E27FC236}">
                <a16:creationId xmlns:a16="http://schemas.microsoft.com/office/drawing/2014/main" id="{5E01A37A-87A4-7743-825E-45FB9B840585}"/>
              </a:ext>
            </a:extLst>
          </p:cNvPr>
          <p:cNvSpPr/>
          <p:nvPr/>
        </p:nvSpPr>
        <p:spPr>
          <a:xfrm>
            <a:off x="9662647" y="5559399"/>
            <a:ext cx="533401" cy="811161"/>
          </a:xfrm>
          <a:prstGeom prst="flowChartMerg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015307-2C23-BE42-CB13-EC2AFB71689D}"/>
              </a:ext>
            </a:extLst>
          </p:cNvPr>
          <p:cNvSpPr txBox="1"/>
          <p:nvPr/>
        </p:nvSpPr>
        <p:spPr>
          <a:xfrm>
            <a:off x="9298869" y="6418978"/>
            <a:ext cx="131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C1EE5B-A8AB-295E-00DB-C6E2D6511CE8}"/>
              </a:ext>
            </a:extLst>
          </p:cNvPr>
          <p:cNvCxnSpPr>
            <a:cxnSpLocks/>
          </p:cNvCxnSpPr>
          <p:nvPr/>
        </p:nvCxnSpPr>
        <p:spPr>
          <a:xfrm flipH="1" flipV="1">
            <a:off x="7317647" y="4788310"/>
            <a:ext cx="1981222" cy="2226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B9B712E-CB05-6AFB-A933-6AAEF5EFDB12}"/>
              </a:ext>
            </a:extLst>
          </p:cNvPr>
          <p:cNvCxnSpPr>
            <a:cxnSpLocks/>
          </p:cNvCxnSpPr>
          <p:nvPr/>
        </p:nvCxnSpPr>
        <p:spPr>
          <a:xfrm flipH="1">
            <a:off x="7266019" y="5265289"/>
            <a:ext cx="2032850" cy="679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0EE456A-C745-0F44-962E-6BF86F490E11}"/>
              </a:ext>
            </a:extLst>
          </p:cNvPr>
          <p:cNvCxnSpPr>
            <a:cxnSpLocks/>
          </p:cNvCxnSpPr>
          <p:nvPr/>
        </p:nvCxnSpPr>
        <p:spPr>
          <a:xfrm flipH="1">
            <a:off x="7297978" y="5482342"/>
            <a:ext cx="2140986" cy="4124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A980CE8-E9C7-22FF-0D30-221801A49E80}"/>
              </a:ext>
            </a:extLst>
          </p:cNvPr>
          <p:cNvCxnSpPr>
            <a:cxnSpLocks/>
          </p:cNvCxnSpPr>
          <p:nvPr/>
        </p:nvCxnSpPr>
        <p:spPr>
          <a:xfrm flipH="1">
            <a:off x="7297979" y="5901813"/>
            <a:ext cx="2364668" cy="541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Flowchart: Preparation 49">
            <a:extLst>
              <a:ext uri="{FF2B5EF4-FFF2-40B4-BE49-F238E27FC236}">
                <a16:creationId xmlns:a16="http://schemas.microsoft.com/office/drawing/2014/main" id="{041E90DE-68FF-BF18-F92B-E9C5437A91A2}"/>
              </a:ext>
            </a:extLst>
          </p:cNvPr>
          <p:cNvSpPr/>
          <p:nvPr/>
        </p:nvSpPr>
        <p:spPr>
          <a:xfrm>
            <a:off x="1401065" y="834993"/>
            <a:ext cx="980768" cy="570814"/>
          </a:xfrm>
          <a:prstGeom prst="flowChartPreparatio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lowchart: Merge 51">
            <a:extLst>
              <a:ext uri="{FF2B5EF4-FFF2-40B4-BE49-F238E27FC236}">
                <a16:creationId xmlns:a16="http://schemas.microsoft.com/office/drawing/2014/main" id="{93F4D300-2F18-4AE6-5228-29E6F2E0805A}"/>
              </a:ext>
            </a:extLst>
          </p:cNvPr>
          <p:cNvSpPr/>
          <p:nvPr/>
        </p:nvSpPr>
        <p:spPr>
          <a:xfrm>
            <a:off x="1624748" y="1503583"/>
            <a:ext cx="533401" cy="811161"/>
          </a:xfrm>
          <a:prstGeom prst="flowChartMerg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Preparation 53">
            <a:extLst>
              <a:ext uri="{FF2B5EF4-FFF2-40B4-BE49-F238E27FC236}">
                <a16:creationId xmlns:a16="http://schemas.microsoft.com/office/drawing/2014/main" id="{36E25444-DEDA-37DB-0E64-B6E1DA970C2C}"/>
              </a:ext>
            </a:extLst>
          </p:cNvPr>
          <p:cNvSpPr/>
          <p:nvPr/>
        </p:nvSpPr>
        <p:spPr>
          <a:xfrm>
            <a:off x="1460059" y="5043209"/>
            <a:ext cx="980768" cy="570814"/>
          </a:xfrm>
          <a:prstGeom prst="flowChartPreparation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lowchart: Merge 55">
            <a:extLst>
              <a:ext uri="{FF2B5EF4-FFF2-40B4-BE49-F238E27FC236}">
                <a16:creationId xmlns:a16="http://schemas.microsoft.com/office/drawing/2014/main" id="{0578814B-513B-8A42-1F94-55568DAFB1B0}"/>
              </a:ext>
            </a:extLst>
          </p:cNvPr>
          <p:cNvSpPr/>
          <p:nvPr/>
        </p:nvSpPr>
        <p:spPr>
          <a:xfrm>
            <a:off x="1683742" y="5711799"/>
            <a:ext cx="533401" cy="811161"/>
          </a:xfrm>
          <a:prstGeom prst="flowChartMerg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Preparation 57">
            <a:extLst>
              <a:ext uri="{FF2B5EF4-FFF2-40B4-BE49-F238E27FC236}">
                <a16:creationId xmlns:a16="http://schemas.microsoft.com/office/drawing/2014/main" id="{A2E4F706-DDE2-1F9D-DC3D-EC82BBBE3497}"/>
              </a:ext>
            </a:extLst>
          </p:cNvPr>
          <p:cNvSpPr/>
          <p:nvPr/>
        </p:nvSpPr>
        <p:spPr>
          <a:xfrm>
            <a:off x="1401071" y="2978425"/>
            <a:ext cx="980768" cy="570814"/>
          </a:xfrm>
          <a:prstGeom prst="flowChartPreparati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lowchart: Merge 59">
            <a:extLst>
              <a:ext uri="{FF2B5EF4-FFF2-40B4-BE49-F238E27FC236}">
                <a16:creationId xmlns:a16="http://schemas.microsoft.com/office/drawing/2014/main" id="{C298585E-47C4-CC75-708B-1BF52FB00C49}"/>
              </a:ext>
            </a:extLst>
          </p:cNvPr>
          <p:cNvSpPr/>
          <p:nvPr/>
        </p:nvSpPr>
        <p:spPr>
          <a:xfrm>
            <a:off x="1624754" y="3647015"/>
            <a:ext cx="533401" cy="811161"/>
          </a:xfrm>
          <a:prstGeom prst="flowChartMerg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688F9E6-102F-00C9-6451-FCF37350CE26}"/>
              </a:ext>
            </a:extLst>
          </p:cNvPr>
          <p:cNvCxnSpPr>
            <a:cxnSpLocks/>
          </p:cNvCxnSpPr>
          <p:nvPr/>
        </p:nvCxnSpPr>
        <p:spPr>
          <a:xfrm flipV="1">
            <a:off x="2440827" y="1405807"/>
            <a:ext cx="2349941" cy="36374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75082D3-6B89-587F-CB44-0A8A6CBFDC25}"/>
              </a:ext>
            </a:extLst>
          </p:cNvPr>
          <p:cNvCxnSpPr>
            <a:cxnSpLocks/>
          </p:cNvCxnSpPr>
          <p:nvPr/>
        </p:nvCxnSpPr>
        <p:spPr>
          <a:xfrm flipV="1">
            <a:off x="2158149" y="5894810"/>
            <a:ext cx="2632619" cy="3373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CF64E2E-62E6-59D5-9E1A-189E200CECC2}"/>
              </a:ext>
            </a:extLst>
          </p:cNvPr>
          <p:cNvCxnSpPr>
            <a:cxnSpLocks/>
          </p:cNvCxnSpPr>
          <p:nvPr/>
        </p:nvCxnSpPr>
        <p:spPr>
          <a:xfrm flipV="1">
            <a:off x="2261391" y="5369535"/>
            <a:ext cx="2632619" cy="3373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A1A9805-5F14-6678-72C1-196AA53F3977}"/>
              </a:ext>
            </a:extLst>
          </p:cNvPr>
          <p:cNvCxnSpPr>
            <a:cxnSpLocks/>
          </p:cNvCxnSpPr>
          <p:nvPr/>
        </p:nvCxnSpPr>
        <p:spPr>
          <a:xfrm flipV="1">
            <a:off x="2545312" y="3730164"/>
            <a:ext cx="2315503" cy="15691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CBC412F-2942-3D7B-E967-1DCFF5A80AD1}"/>
              </a:ext>
            </a:extLst>
          </p:cNvPr>
          <p:cNvCxnSpPr/>
          <p:nvPr/>
        </p:nvCxnSpPr>
        <p:spPr>
          <a:xfrm>
            <a:off x="2440827" y="834993"/>
            <a:ext cx="2349941" cy="4736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3D913A3-E6F7-DC34-6082-53BE30CB2923}"/>
              </a:ext>
            </a:extLst>
          </p:cNvPr>
          <p:cNvCxnSpPr>
            <a:cxnSpLocks/>
          </p:cNvCxnSpPr>
          <p:nvPr/>
        </p:nvCxnSpPr>
        <p:spPr>
          <a:xfrm>
            <a:off x="2381833" y="1408539"/>
            <a:ext cx="2408935" cy="16318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4431404-B837-A8D7-5EAE-1D30E2514CEF}"/>
              </a:ext>
            </a:extLst>
          </p:cNvPr>
          <p:cNvCxnSpPr/>
          <p:nvPr/>
        </p:nvCxnSpPr>
        <p:spPr>
          <a:xfrm flipV="1">
            <a:off x="2440827" y="1405807"/>
            <a:ext cx="2239328" cy="18187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08D6D10-0595-7BA6-73C3-5D5BF7A1A08E}"/>
              </a:ext>
            </a:extLst>
          </p:cNvPr>
          <p:cNvCxnSpPr>
            <a:cxnSpLocks/>
          </p:cNvCxnSpPr>
          <p:nvPr/>
        </p:nvCxnSpPr>
        <p:spPr>
          <a:xfrm flipV="1">
            <a:off x="2381833" y="1920047"/>
            <a:ext cx="2365920" cy="18975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86D9AC3-6494-6BD2-7766-2401DE4D579A}"/>
              </a:ext>
            </a:extLst>
          </p:cNvPr>
          <p:cNvCxnSpPr>
            <a:cxnSpLocks/>
          </p:cNvCxnSpPr>
          <p:nvPr/>
        </p:nvCxnSpPr>
        <p:spPr>
          <a:xfrm flipV="1">
            <a:off x="2261391" y="2498168"/>
            <a:ext cx="2541055" cy="16457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2EB6019-7C81-93A1-C4F7-4E65ECC38349}"/>
              </a:ext>
            </a:extLst>
          </p:cNvPr>
          <p:cNvCxnSpPr>
            <a:cxnSpLocks/>
          </p:cNvCxnSpPr>
          <p:nvPr/>
        </p:nvCxnSpPr>
        <p:spPr>
          <a:xfrm flipH="1" flipV="1">
            <a:off x="7291833" y="4217038"/>
            <a:ext cx="2007036" cy="667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3CC5D8CD-7310-64A1-70FB-BBED554A6691}"/>
              </a:ext>
            </a:extLst>
          </p:cNvPr>
          <p:cNvSpPr txBox="1"/>
          <p:nvPr/>
        </p:nvSpPr>
        <p:spPr>
          <a:xfrm>
            <a:off x="1061884" y="4485957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00FFFF"/>
                </a:highlight>
              </a:rPr>
              <a:t>Admin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4E4EDF8-01E7-F52A-75F6-EF020EC79E72}"/>
              </a:ext>
            </a:extLst>
          </p:cNvPr>
          <p:cNvSpPr txBox="1"/>
          <p:nvPr/>
        </p:nvSpPr>
        <p:spPr>
          <a:xfrm>
            <a:off x="1194618" y="2358992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Super Admin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0278522-78D2-448F-016A-C63053E34786}"/>
              </a:ext>
            </a:extLst>
          </p:cNvPr>
          <p:cNvSpPr txBox="1"/>
          <p:nvPr/>
        </p:nvSpPr>
        <p:spPr>
          <a:xfrm>
            <a:off x="1465007" y="6483575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Manager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4FAAD6A-412F-70AE-C885-7C04E2DA32DB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11</a:t>
            </a:r>
          </a:p>
        </p:txBody>
      </p:sp>
    </p:spTree>
    <p:extLst>
      <p:ext uri="{BB962C8B-B14F-4D97-AF65-F5344CB8AC3E}">
        <p14:creationId xmlns:p14="http://schemas.microsoft.com/office/powerpoint/2010/main" val="4111404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C552-6BF1-EC2C-88AC-30524C34F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Diagram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685BFF-C19E-423C-6686-3B8202E71C9C}"/>
              </a:ext>
            </a:extLst>
          </p:cNvPr>
          <p:cNvSpPr/>
          <p:nvPr/>
        </p:nvSpPr>
        <p:spPr>
          <a:xfrm>
            <a:off x="619430" y="1120877"/>
            <a:ext cx="1258529" cy="766917"/>
          </a:xfrm>
          <a:prstGeom prst="round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Super Admin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C5E207-7A33-17CD-B4DD-EF744F42C9B5}"/>
              </a:ext>
            </a:extLst>
          </p:cNvPr>
          <p:cNvSpPr/>
          <p:nvPr/>
        </p:nvSpPr>
        <p:spPr>
          <a:xfrm>
            <a:off x="2262646" y="1120877"/>
            <a:ext cx="1258529" cy="7669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12EF5B-0FE3-1823-156E-7DF25C6A1228}"/>
              </a:ext>
            </a:extLst>
          </p:cNvPr>
          <p:cNvSpPr/>
          <p:nvPr/>
        </p:nvSpPr>
        <p:spPr>
          <a:xfrm>
            <a:off x="3905862" y="1120876"/>
            <a:ext cx="1258529" cy="76691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Manager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7DC63F3-050B-AAA7-2C5F-038870904D6E}"/>
              </a:ext>
            </a:extLst>
          </p:cNvPr>
          <p:cNvSpPr/>
          <p:nvPr/>
        </p:nvSpPr>
        <p:spPr>
          <a:xfrm>
            <a:off x="5549078" y="1120876"/>
            <a:ext cx="1258529" cy="76691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Customer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FE53065-D691-D8D8-1508-8FABA59A59EE}"/>
              </a:ext>
            </a:extLst>
          </p:cNvPr>
          <p:cNvSpPr/>
          <p:nvPr/>
        </p:nvSpPr>
        <p:spPr>
          <a:xfrm>
            <a:off x="7192294" y="1120876"/>
            <a:ext cx="1258529" cy="766917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Web/Mobile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F3B7D0F-C77F-AFC1-F668-2055A229C759}"/>
              </a:ext>
            </a:extLst>
          </p:cNvPr>
          <p:cNvSpPr/>
          <p:nvPr/>
        </p:nvSpPr>
        <p:spPr>
          <a:xfrm>
            <a:off x="8835510" y="1120875"/>
            <a:ext cx="1258529" cy="76691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System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75D3E7E-EFCD-9E39-DF84-0CCD58EADFB1}"/>
              </a:ext>
            </a:extLst>
          </p:cNvPr>
          <p:cNvSpPr/>
          <p:nvPr/>
        </p:nvSpPr>
        <p:spPr>
          <a:xfrm>
            <a:off x="10478726" y="1120874"/>
            <a:ext cx="1258529" cy="766917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3B68603-8B16-CC62-2FD3-BA9015D5BFC3}"/>
              </a:ext>
            </a:extLst>
          </p:cNvPr>
          <p:cNvSpPr/>
          <p:nvPr/>
        </p:nvSpPr>
        <p:spPr>
          <a:xfrm>
            <a:off x="1140538" y="2148346"/>
            <a:ext cx="216311" cy="4576873"/>
          </a:xfrm>
          <a:prstGeom prst="round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D8970B7-0FEB-033C-0CBE-6ACFB397C60F}"/>
              </a:ext>
            </a:extLst>
          </p:cNvPr>
          <p:cNvCxnSpPr/>
          <p:nvPr/>
        </p:nvCxnSpPr>
        <p:spPr>
          <a:xfrm>
            <a:off x="1435510" y="2458065"/>
            <a:ext cx="59485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C42E1FF-6767-C8C8-312C-52AD80D653C4}"/>
              </a:ext>
            </a:extLst>
          </p:cNvPr>
          <p:cNvSpPr/>
          <p:nvPr/>
        </p:nvSpPr>
        <p:spPr>
          <a:xfrm>
            <a:off x="7713402" y="2074606"/>
            <a:ext cx="216311" cy="114054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F59006A-36E2-1E76-B44D-7B5815658BBB}"/>
              </a:ext>
            </a:extLst>
          </p:cNvPr>
          <p:cNvSpPr/>
          <p:nvPr/>
        </p:nvSpPr>
        <p:spPr>
          <a:xfrm>
            <a:off x="7713401" y="3316633"/>
            <a:ext cx="216311" cy="114054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A88C98D-1F83-0677-D3B2-C222FED34DD2}"/>
              </a:ext>
            </a:extLst>
          </p:cNvPr>
          <p:cNvSpPr/>
          <p:nvPr/>
        </p:nvSpPr>
        <p:spPr>
          <a:xfrm>
            <a:off x="7713400" y="5801032"/>
            <a:ext cx="216311" cy="924233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4CD34DB-760A-3854-8A6E-B574815322CD}"/>
              </a:ext>
            </a:extLst>
          </p:cNvPr>
          <p:cNvSpPr/>
          <p:nvPr/>
        </p:nvSpPr>
        <p:spPr>
          <a:xfrm>
            <a:off x="7713400" y="4570342"/>
            <a:ext cx="216311" cy="114054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04875A-E514-8F7B-6196-FA86CF4E3B97}"/>
              </a:ext>
            </a:extLst>
          </p:cNvPr>
          <p:cNvSpPr txBox="1"/>
          <p:nvPr/>
        </p:nvSpPr>
        <p:spPr>
          <a:xfrm>
            <a:off x="3087329" y="2109019"/>
            <a:ext cx="1691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Login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F812A63-4E8A-3949-6737-0582872B1049}"/>
              </a:ext>
            </a:extLst>
          </p:cNvPr>
          <p:cNvSpPr/>
          <p:nvPr/>
        </p:nvSpPr>
        <p:spPr>
          <a:xfrm>
            <a:off x="9356618" y="2134220"/>
            <a:ext cx="216311" cy="76691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05502DE-1476-E054-112D-FD43435B07CA}"/>
              </a:ext>
            </a:extLst>
          </p:cNvPr>
          <p:cNvCxnSpPr/>
          <p:nvPr/>
        </p:nvCxnSpPr>
        <p:spPr>
          <a:xfrm>
            <a:off x="7959207" y="2333013"/>
            <a:ext cx="13519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C009B60-8FF7-2191-D37C-3BD912AB2F9A}"/>
              </a:ext>
            </a:extLst>
          </p:cNvPr>
          <p:cNvSpPr txBox="1"/>
          <p:nvPr/>
        </p:nvSpPr>
        <p:spPr>
          <a:xfrm>
            <a:off x="7878091" y="1988882"/>
            <a:ext cx="182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 Authenticate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BE3F91A-C873-CFD3-7B04-08773323AD15}"/>
              </a:ext>
            </a:extLst>
          </p:cNvPr>
          <p:cNvSpPr/>
          <p:nvPr/>
        </p:nvSpPr>
        <p:spPr>
          <a:xfrm>
            <a:off x="10999834" y="2219901"/>
            <a:ext cx="216311" cy="766917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AD9F52D-F6F7-BB47-17E0-DF8D7683D7C3}"/>
              </a:ext>
            </a:extLst>
          </p:cNvPr>
          <p:cNvCxnSpPr/>
          <p:nvPr/>
        </p:nvCxnSpPr>
        <p:spPr>
          <a:xfrm>
            <a:off x="9703201" y="2517678"/>
            <a:ext cx="11417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5D49A87-BC32-7307-8A31-0C39E1E9A6F4}"/>
              </a:ext>
            </a:extLst>
          </p:cNvPr>
          <p:cNvSpPr txBox="1"/>
          <p:nvPr/>
        </p:nvSpPr>
        <p:spPr>
          <a:xfrm>
            <a:off x="9630688" y="2148346"/>
            <a:ext cx="1351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 Validate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27070C8-82D6-3BDB-F8BD-B395205DD805}"/>
              </a:ext>
            </a:extLst>
          </p:cNvPr>
          <p:cNvCxnSpPr>
            <a:cxnSpLocks/>
          </p:cNvCxnSpPr>
          <p:nvPr/>
        </p:nvCxnSpPr>
        <p:spPr>
          <a:xfrm flipH="1">
            <a:off x="7959207" y="2782529"/>
            <a:ext cx="13519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7818BE2-66F2-7CD7-31A7-A7516AD52D73}"/>
              </a:ext>
            </a:extLst>
          </p:cNvPr>
          <p:cNvSpPr txBox="1"/>
          <p:nvPr/>
        </p:nvSpPr>
        <p:spPr>
          <a:xfrm>
            <a:off x="8196419" y="2504684"/>
            <a:ext cx="1179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4. Auth Response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EE093F8-A297-93E7-E3A7-30E4CD9789C0}"/>
              </a:ext>
            </a:extLst>
          </p:cNvPr>
          <p:cNvCxnSpPr/>
          <p:nvPr/>
        </p:nvCxnSpPr>
        <p:spPr>
          <a:xfrm>
            <a:off x="1450256" y="3456047"/>
            <a:ext cx="59485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408D203-7E0B-29A0-63C2-0654CCBF3ECB}"/>
              </a:ext>
            </a:extLst>
          </p:cNvPr>
          <p:cNvSpPr txBox="1"/>
          <p:nvPr/>
        </p:nvSpPr>
        <p:spPr>
          <a:xfrm>
            <a:off x="3175819" y="3059668"/>
            <a:ext cx="180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Manage Data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76A95B8-5660-52EB-10D7-59FF4CFFCB02}"/>
              </a:ext>
            </a:extLst>
          </p:cNvPr>
          <p:cNvSpPr/>
          <p:nvPr/>
        </p:nvSpPr>
        <p:spPr>
          <a:xfrm>
            <a:off x="10999835" y="3429001"/>
            <a:ext cx="216320" cy="1028796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583514-FABF-3CF9-4F97-184BBB4D5862}"/>
              </a:ext>
            </a:extLst>
          </p:cNvPr>
          <p:cNvCxnSpPr/>
          <p:nvPr/>
        </p:nvCxnSpPr>
        <p:spPr>
          <a:xfrm>
            <a:off x="7988703" y="3608439"/>
            <a:ext cx="28857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B09C0EA-F6FB-68D4-2578-3DD4993C35BA}"/>
              </a:ext>
            </a:extLst>
          </p:cNvPr>
          <p:cNvSpPr txBox="1"/>
          <p:nvPr/>
        </p:nvSpPr>
        <p:spPr>
          <a:xfrm>
            <a:off x="8229598" y="3287137"/>
            <a:ext cx="2394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6. Save / Update / Delete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6DF20D7-CCD9-2400-7204-21956EA1833C}"/>
              </a:ext>
            </a:extLst>
          </p:cNvPr>
          <p:cNvCxnSpPr>
            <a:cxnSpLocks/>
          </p:cNvCxnSpPr>
          <p:nvPr/>
        </p:nvCxnSpPr>
        <p:spPr>
          <a:xfrm flipH="1">
            <a:off x="7988703" y="4218039"/>
            <a:ext cx="28857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99104BC-3F8C-B864-980E-3DACCB09D89A}"/>
              </a:ext>
            </a:extLst>
          </p:cNvPr>
          <p:cNvSpPr txBox="1"/>
          <p:nvPr/>
        </p:nvSpPr>
        <p:spPr>
          <a:xfrm>
            <a:off x="8357419" y="3893575"/>
            <a:ext cx="2121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7. Confirmation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54C3B60-6DC5-7AA3-FEF6-18AEFEF9FDAB}"/>
              </a:ext>
            </a:extLst>
          </p:cNvPr>
          <p:cNvSpPr/>
          <p:nvPr/>
        </p:nvSpPr>
        <p:spPr>
          <a:xfrm>
            <a:off x="2783760" y="4275375"/>
            <a:ext cx="211397" cy="92589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2F9958A-D09E-380A-25DD-E9B7BAFFF57C}"/>
              </a:ext>
            </a:extLst>
          </p:cNvPr>
          <p:cNvSpPr/>
          <p:nvPr/>
        </p:nvSpPr>
        <p:spPr>
          <a:xfrm>
            <a:off x="2788674" y="5471611"/>
            <a:ext cx="216311" cy="83086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10E63BCD-8E43-A281-7379-AB179C7CC666}"/>
              </a:ext>
            </a:extLst>
          </p:cNvPr>
          <p:cNvSpPr/>
          <p:nvPr/>
        </p:nvSpPr>
        <p:spPr>
          <a:xfrm>
            <a:off x="4431895" y="5958302"/>
            <a:ext cx="216311" cy="76691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57A98F7-F4D6-BE94-5BB7-BC00B1B8FC2D}"/>
              </a:ext>
            </a:extLst>
          </p:cNvPr>
          <p:cNvCxnSpPr/>
          <p:nvPr/>
        </p:nvCxnSpPr>
        <p:spPr>
          <a:xfrm>
            <a:off x="3087329" y="4906297"/>
            <a:ext cx="45228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8B471E2-1C35-5D44-CCB2-C946D32C62C2}"/>
              </a:ext>
            </a:extLst>
          </p:cNvPr>
          <p:cNvSpPr txBox="1"/>
          <p:nvPr/>
        </p:nvSpPr>
        <p:spPr>
          <a:xfrm>
            <a:off x="3932903" y="4570342"/>
            <a:ext cx="2231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8. Browser Cars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1FD6FC4-E7D9-E277-191C-22ADE6908052}"/>
              </a:ext>
            </a:extLst>
          </p:cNvPr>
          <p:cNvSpPr/>
          <p:nvPr/>
        </p:nvSpPr>
        <p:spPr>
          <a:xfrm>
            <a:off x="9361536" y="4716451"/>
            <a:ext cx="216311" cy="76691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1A29997-D88F-5384-F8B0-F780B70970DF}"/>
              </a:ext>
            </a:extLst>
          </p:cNvPr>
          <p:cNvSpPr/>
          <p:nvPr/>
        </p:nvSpPr>
        <p:spPr>
          <a:xfrm>
            <a:off x="9362761" y="5801032"/>
            <a:ext cx="267927" cy="88816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CB5B3837-545E-B105-C268-2E4BE19998EA}"/>
              </a:ext>
            </a:extLst>
          </p:cNvPr>
          <p:cNvSpPr/>
          <p:nvPr/>
        </p:nvSpPr>
        <p:spPr>
          <a:xfrm>
            <a:off x="10999834" y="4760418"/>
            <a:ext cx="216320" cy="1028796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5F1A43AD-4D66-51CE-7A3B-90C8FD35EF95}"/>
              </a:ext>
            </a:extLst>
          </p:cNvPr>
          <p:cNvSpPr/>
          <p:nvPr/>
        </p:nvSpPr>
        <p:spPr>
          <a:xfrm>
            <a:off x="11019496" y="5958302"/>
            <a:ext cx="216311" cy="73089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2DE9F1D-804B-36B9-3EA6-228EE6D241A5}"/>
              </a:ext>
            </a:extLst>
          </p:cNvPr>
          <p:cNvCxnSpPr/>
          <p:nvPr/>
        </p:nvCxnSpPr>
        <p:spPr>
          <a:xfrm>
            <a:off x="7988703" y="4798142"/>
            <a:ext cx="13224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5A8967AC-7416-7A47-EA05-73F9B299BE01}"/>
              </a:ext>
            </a:extLst>
          </p:cNvPr>
          <p:cNvSpPr txBox="1"/>
          <p:nvPr/>
        </p:nvSpPr>
        <p:spPr>
          <a:xfrm>
            <a:off x="8032960" y="4505754"/>
            <a:ext cx="1506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9. Fetch Car Data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CF403B1-48BA-1400-04DD-A8E30DE8F48B}"/>
              </a:ext>
            </a:extLst>
          </p:cNvPr>
          <p:cNvCxnSpPr/>
          <p:nvPr/>
        </p:nvCxnSpPr>
        <p:spPr>
          <a:xfrm>
            <a:off x="9699511" y="4906297"/>
            <a:ext cx="12142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F5ACDB1-5D99-34FE-9393-385B0E880E32}"/>
              </a:ext>
            </a:extLst>
          </p:cNvPr>
          <p:cNvSpPr txBox="1"/>
          <p:nvPr/>
        </p:nvSpPr>
        <p:spPr>
          <a:xfrm>
            <a:off x="9635616" y="4620332"/>
            <a:ext cx="1526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10. Retrieve Data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756EAFC-F29E-4F52-1B24-055D66E45999}"/>
              </a:ext>
            </a:extLst>
          </p:cNvPr>
          <p:cNvCxnSpPr/>
          <p:nvPr/>
        </p:nvCxnSpPr>
        <p:spPr>
          <a:xfrm flipH="1">
            <a:off x="8032960" y="5381625"/>
            <a:ext cx="1177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7A8A3EE-2D36-EBC6-F8DF-E2D3905E6957}"/>
              </a:ext>
            </a:extLst>
          </p:cNvPr>
          <p:cNvSpPr txBox="1"/>
          <p:nvPr/>
        </p:nvSpPr>
        <p:spPr>
          <a:xfrm>
            <a:off x="8229598" y="5077440"/>
            <a:ext cx="933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11. Car Details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60F9833-D4EB-82B2-44F9-49DABFB23347}"/>
              </a:ext>
            </a:extLst>
          </p:cNvPr>
          <p:cNvCxnSpPr/>
          <p:nvPr/>
        </p:nvCxnSpPr>
        <p:spPr>
          <a:xfrm>
            <a:off x="3087329" y="5581650"/>
            <a:ext cx="4522839" cy="3766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DA8A426-AF68-7ADF-129A-2E3230501BAE}"/>
              </a:ext>
            </a:extLst>
          </p:cNvPr>
          <p:cNvSpPr txBox="1"/>
          <p:nvPr/>
        </p:nvSpPr>
        <p:spPr>
          <a:xfrm rot="331885">
            <a:off x="3521175" y="5369068"/>
            <a:ext cx="318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12. Book Test Drive / Purchase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0DA635A-2960-8403-ED40-824AEE5C8AF2}"/>
              </a:ext>
            </a:extLst>
          </p:cNvPr>
          <p:cNvCxnSpPr/>
          <p:nvPr/>
        </p:nvCxnSpPr>
        <p:spPr>
          <a:xfrm>
            <a:off x="8032960" y="6048375"/>
            <a:ext cx="1177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472F0451-60A4-8D9D-4332-6E0A0C12C1BC}"/>
              </a:ext>
            </a:extLst>
          </p:cNvPr>
          <p:cNvSpPr txBox="1"/>
          <p:nvPr/>
        </p:nvSpPr>
        <p:spPr>
          <a:xfrm>
            <a:off x="8032960" y="5748984"/>
            <a:ext cx="166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13. Create Booking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CB3ACBCA-1872-8C94-24E7-A7F8FB2AE101}"/>
              </a:ext>
            </a:extLst>
          </p:cNvPr>
          <p:cNvCxnSpPr/>
          <p:nvPr/>
        </p:nvCxnSpPr>
        <p:spPr>
          <a:xfrm>
            <a:off x="9699511" y="6162675"/>
            <a:ext cx="12142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25CD078E-AC58-CA00-3500-D28CBC188EE4}"/>
              </a:ext>
            </a:extLst>
          </p:cNvPr>
          <p:cNvSpPr txBox="1"/>
          <p:nvPr/>
        </p:nvSpPr>
        <p:spPr>
          <a:xfrm>
            <a:off x="9699511" y="5882334"/>
            <a:ext cx="1654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14. Save Booking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EBA5BEC-C652-7FEC-4A70-E7AB815472E1}"/>
              </a:ext>
            </a:extLst>
          </p:cNvPr>
          <p:cNvCxnSpPr/>
          <p:nvPr/>
        </p:nvCxnSpPr>
        <p:spPr>
          <a:xfrm flipH="1">
            <a:off x="7988703" y="6644149"/>
            <a:ext cx="12219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CB669C81-4136-4E03-8627-B650352540AC}"/>
              </a:ext>
            </a:extLst>
          </p:cNvPr>
          <p:cNvSpPr txBox="1"/>
          <p:nvPr/>
        </p:nvSpPr>
        <p:spPr>
          <a:xfrm>
            <a:off x="7909135" y="6343284"/>
            <a:ext cx="1666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15. Confirmation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D593F12A-03E3-59A2-C201-AFCC1071EE0D}"/>
              </a:ext>
            </a:extLst>
          </p:cNvPr>
          <p:cNvCxnSpPr>
            <a:cxnSpLocks/>
          </p:cNvCxnSpPr>
          <p:nvPr/>
        </p:nvCxnSpPr>
        <p:spPr>
          <a:xfrm>
            <a:off x="1435510" y="6467109"/>
            <a:ext cx="29174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8F5B88E-4F70-5EC3-6FC0-2EEDCB5D7838}"/>
              </a:ext>
            </a:extLst>
          </p:cNvPr>
          <p:cNvSpPr txBox="1"/>
          <p:nvPr/>
        </p:nvSpPr>
        <p:spPr>
          <a:xfrm>
            <a:off x="2468509" y="6472699"/>
            <a:ext cx="2401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16. View Reports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478A41B-8B96-9466-9410-349DCA0A47ED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9464775" y="1887792"/>
            <a:ext cx="31949" cy="49702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388BC14-5250-5338-8A33-B3506DBFB9B3}"/>
              </a:ext>
            </a:extLst>
          </p:cNvPr>
          <p:cNvCxnSpPr>
            <a:stCxn id="4" idx="2"/>
            <a:endCxn id="28" idx="0"/>
          </p:cNvCxnSpPr>
          <p:nvPr/>
        </p:nvCxnSpPr>
        <p:spPr>
          <a:xfrm flipH="1">
            <a:off x="1248694" y="1887794"/>
            <a:ext cx="1" cy="26055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E9F4EEA-0784-3C17-A9ED-1BE15D516A53}"/>
              </a:ext>
            </a:extLst>
          </p:cNvPr>
          <p:cNvCxnSpPr/>
          <p:nvPr/>
        </p:nvCxnSpPr>
        <p:spPr>
          <a:xfrm flipH="1">
            <a:off x="1248693" y="6594943"/>
            <a:ext cx="1" cy="26055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03E7331C-25CB-FF81-D2CF-14A15DEF507C}"/>
              </a:ext>
            </a:extLst>
          </p:cNvPr>
          <p:cNvCxnSpPr>
            <a:stCxn id="16" idx="2"/>
            <a:endCxn id="76" idx="0"/>
          </p:cNvCxnSpPr>
          <p:nvPr/>
        </p:nvCxnSpPr>
        <p:spPr>
          <a:xfrm flipH="1">
            <a:off x="2889459" y="1887794"/>
            <a:ext cx="2452" cy="238758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BD02C43-C3D2-2A8A-D707-6214A3DB93D2}"/>
              </a:ext>
            </a:extLst>
          </p:cNvPr>
          <p:cNvCxnSpPr>
            <a:cxnSpLocks/>
          </p:cNvCxnSpPr>
          <p:nvPr/>
        </p:nvCxnSpPr>
        <p:spPr>
          <a:xfrm flipH="1">
            <a:off x="2888220" y="5303381"/>
            <a:ext cx="2452" cy="150787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0D3B9A4-C002-5A93-FBF0-DD59170F71D6}"/>
              </a:ext>
            </a:extLst>
          </p:cNvPr>
          <p:cNvCxnSpPr>
            <a:stCxn id="18" idx="2"/>
            <a:endCxn id="80" idx="0"/>
          </p:cNvCxnSpPr>
          <p:nvPr/>
        </p:nvCxnSpPr>
        <p:spPr>
          <a:xfrm>
            <a:off x="4535127" y="1887793"/>
            <a:ext cx="4924" cy="407050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98BE13B-D5E2-0F4C-0AE7-D2C68BDA6B15}"/>
              </a:ext>
            </a:extLst>
          </p:cNvPr>
          <p:cNvCxnSpPr/>
          <p:nvPr/>
        </p:nvCxnSpPr>
        <p:spPr>
          <a:xfrm flipH="1">
            <a:off x="4740377" y="6594943"/>
            <a:ext cx="2831691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BEAE2A9E-B146-D685-6264-AC2896722FAE}"/>
              </a:ext>
            </a:extLst>
          </p:cNvPr>
          <p:cNvCxnSpPr/>
          <p:nvPr/>
        </p:nvCxnSpPr>
        <p:spPr>
          <a:xfrm flipH="1">
            <a:off x="9630688" y="2782529"/>
            <a:ext cx="135194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7CD804DF-443A-7920-C987-5AB65980124C}"/>
              </a:ext>
            </a:extLst>
          </p:cNvPr>
          <p:cNvCxnSpPr>
            <a:cxnSpLocks/>
          </p:cNvCxnSpPr>
          <p:nvPr/>
        </p:nvCxnSpPr>
        <p:spPr>
          <a:xfrm flipH="1" flipV="1">
            <a:off x="9829800" y="5381625"/>
            <a:ext cx="1015181" cy="1800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911F495-6B26-2D88-E73B-9A72A7338AEA}"/>
              </a:ext>
            </a:extLst>
          </p:cNvPr>
          <p:cNvCxnSpPr>
            <a:cxnSpLocks/>
          </p:cNvCxnSpPr>
          <p:nvPr/>
        </p:nvCxnSpPr>
        <p:spPr>
          <a:xfrm flipH="1" flipV="1">
            <a:off x="9851913" y="6551805"/>
            <a:ext cx="1015181" cy="1800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728112C-6059-1B4B-4DE0-1689A454E862}"/>
              </a:ext>
            </a:extLst>
          </p:cNvPr>
          <p:cNvCxnSpPr>
            <a:stCxn id="22" idx="2"/>
          </p:cNvCxnSpPr>
          <p:nvPr/>
        </p:nvCxnSpPr>
        <p:spPr>
          <a:xfrm flipH="1">
            <a:off x="7821555" y="1887793"/>
            <a:ext cx="4" cy="497020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68DD846-04D4-9292-9D79-3F246B8FFFBF}"/>
              </a:ext>
            </a:extLst>
          </p:cNvPr>
          <p:cNvCxnSpPr>
            <a:stCxn id="26" idx="2"/>
          </p:cNvCxnSpPr>
          <p:nvPr/>
        </p:nvCxnSpPr>
        <p:spPr>
          <a:xfrm>
            <a:off x="11107991" y="1887791"/>
            <a:ext cx="19660" cy="497020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2200BA71-999D-B41E-86F2-ACBBADB60BAB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12</a:t>
            </a:r>
          </a:p>
        </p:txBody>
      </p:sp>
    </p:spTree>
    <p:extLst>
      <p:ext uri="{BB962C8B-B14F-4D97-AF65-F5344CB8AC3E}">
        <p14:creationId xmlns:p14="http://schemas.microsoft.com/office/powerpoint/2010/main" val="3854324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C6FC-AB58-B29D-7FE9-CB72CE2F3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68E1E-22BB-05D5-9A21-74822BF2C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FD372-1F90-DD5C-12C4-075225DCB60A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13</a:t>
            </a:r>
          </a:p>
        </p:txBody>
      </p:sp>
    </p:spTree>
    <p:extLst>
      <p:ext uri="{BB962C8B-B14F-4D97-AF65-F5344CB8AC3E}">
        <p14:creationId xmlns:p14="http://schemas.microsoft.com/office/powerpoint/2010/main" val="942746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59D7-B382-EC5D-C5B3-8281C6FC7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437BF-8961-E968-70D7-32BEADB0A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D60D8-3241-03EE-5B63-E056ECF11146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14</a:t>
            </a:r>
          </a:p>
        </p:txBody>
      </p:sp>
    </p:spTree>
    <p:extLst>
      <p:ext uri="{BB962C8B-B14F-4D97-AF65-F5344CB8AC3E}">
        <p14:creationId xmlns:p14="http://schemas.microsoft.com/office/powerpoint/2010/main" val="1848948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8F369-E9AC-0044-8B82-218A4E1F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D29B-5D4A-0765-3C0E-ECEC26AD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Privacy: Protect customer personal information and booking details.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Access: Provide role-based permissions for Super Admin, Admin, Manager and Customer.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Recommendations: Recommend cars according to customer preferences without misleading information.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Transparency: Explain how customer data is used by the system.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42DFA-DA55-9809-F7C4-205374C459C8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15</a:t>
            </a:r>
          </a:p>
        </p:txBody>
      </p:sp>
    </p:spTree>
    <p:extLst>
      <p:ext uri="{BB962C8B-B14F-4D97-AF65-F5344CB8AC3E}">
        <p14:creationId xmlns:p14="http://schemas.microsoft.com/office/powerpoint/2010/main" val="831313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BF2CB-5A9F-BDAC-653D-5492FAC1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AC59E-2169-82C0-F0BF-88C954BCA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Protection: Follow applicable data-protection and privacy laws.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Consent: Obtain appropriate consent before collecting personal information.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Copyright Compliance: Use legally authorized car images, 3D models, software and other digital assets.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Security: Protect user accounts and booking information against unauthorized access.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F45F29-B4D7-10F0-FCA5-8439E3164CA7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16</a:t>
            </a:r>
          </a:p>
        </p:txBody>
      </p:sp>
    </p:spTree>
    <p:extLst>
      <p:ext uri="{BB962C8B-B14F-4D97-AF65-F5344CB8AC3E}">
        <p14:creationId xmlns:p14="http://schemas.microsoft.com/office/powerpoint/2010/main" val="1169539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9A6DB-3BAA-07C5-CE6C-C6E257A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A4F80-5050-8A3F-B510-995F82989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Paperless Operations: Use digital brochures and online booking instead of unnecessary printed documents.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Efficiency: Optimize the application to reduce unnecessary processing and resource consumption.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Car Exploration: Allow customers to explore cars online and reduce unnecessary showroom visits.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 Awareness: Provide information about available electric vehicle models and their features.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39B05-05D9-1A18-B195-98E286C9280B}"/>
              </a:ext>
            </a:extLst>
          </p:cNvPr>
          <p:cNvSpPr txBox="1"/>
          <p:nvPr/>
        </p:nvSpPr>
        <p:spPr>
          <a:xfrm>
            <a:off x="0" y="6396335"/>
            <a:ext cx="766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   17</a:t>
            </a:r>
          </a:p>
        </p:txBody>
      </p:sp>
    </p:spTree>
    <p:extLst>
      <p:ext uri="{BB962C8B-B14F-4D97-AF65-F5344CB8AC3E}">
        <p14:creationId xmlns:p14="http://schemas.microsoft.com/office/powerpoint/2010/main" val="249789459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PGO - Teal Geometry">
      <a:dk1>
        <a:srgbClr val="062A44"/>
      </a:dk1>
      <a:lt1>
        <a:srgbClr val="F6F8FA"/>
      </a:lt1>
      <a:dk2>
        <a:srgbClr val="0B4F63"/>
      </a:dk2>
      <a:lt2>
        <a:srgbClr val="EEF3F6"/>
      </a:lt2>
      <a:accent1>
        <a:srgbClr val="16A6AE"/>
      </a:accent1>
      <a:accent2>
        <a:srgbClr val="58C6D3"/>
      </a:accent2>
      <a:accent3>
        <a:srgbClr val="8CC63F"/>
      </a:accent3>
      <a:accent4>
        <a:srgbClr val="0F3D5A"/>
      </a:accent4>
      <a:accent5>
        <a:srgbClr val="B8C7D0"/>
      </a:accent5>
      <a:accent6>
        <a:srgbClr val="DDE6EA"/>
      </a:accent6>
      <a:hlink>
        <a:srgbClr val="0E8FA3"/>
      </a:hlink>
      <a:folHlink>
        <a:srgbClr val="5C8E3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2" id="{4FD03F80-10DC-4DB7-854F-549516331639}" vid="{5EA29CA7-1752-4CE4-86B1-79157868099E}"/>
    </a:ext>
  </a:extLst>
</a:theme>
</file>

<file path=ppt/theme/theme2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698_T_PGO_Teal-Geometry.potx" id="{817A5BA7-080C-46EE-B3A8-E9CF3A5DC8A0}" vid="{B18A1D08-21AB-42EE-844B-8E22DF14B9D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523</TotalTime>
  <Words>1305</Words>
  <Application>Microsoft Office PowerPoint</Application>
  <PresentationFormat>Widescreen</PresentationFormat>
  <Paragraphs>194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Calibri Light</vt:lpstr>
      <vt:lpstr>Times New Roman</vt:lpstr>
      <vt:lpstr>Theme2</vt:lpstr>
      <vt:lpstr>Designed by PresentationGO</vt:lpstr>
      <vt:lpstr>PowerPoint Presentation</vt:lpstr>
      <vt:lpstr>Abstract</vt:lpstr>
      <vt:lpstr>Introduction</vt:lpstr>
      <vt:lpstr>Problem Statement</vt:lpstr>
      <vt:lpstr>Objectives</vt:lpstr>
      <vt:lpstr>Scope</vt:lpstr>
      <vt:lpstr>Literature Review</vt:lpstr>
      <vt:lpstr>PowerPoint Presentation</vt:lpstr>
      <vt:lpstr>PowerPoint Presentation</vt:lpstr>
      <vt:lpstr>Proposed Solution</vt:lpstr>
      <vt:lpstr>Tools/Technologies/Hardware</vt:lpstr>
      <vt:lpstr>Use Case Diagram</vt:lpstr>
      <vt:lpstr>Interaction Diagram</vt:lpstr>
      <vt:lpstr>PowerPoint Presentation</vt:lpstr>
      <vt:lpstr>PowerPoint Presentation</vt:lpstr>
      <vt:lpstr>Ethical Considerations</vt:lpstr>
      <vt:lpstr>Legal Considerations</vt:lpstr>
      <vt:lpstr>Environmental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Garasiya</dc:creator>
  <cp:lastModifiedBy>Jay Garasiya</cp:lastModifiedBy>
  <cp:revision>46</cp:revision>
  <dcterms:created xsi:type="dcterms:W3CDTF">2026-08-27T12:41:01Z</dcterms:created>
  <dcterms:modified xsi:type="dcterms:W3CDTF">2026-10-22T18:24:43Z</dcterms:modified>
</cp:coreProperties>
</file>